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_rels/slideMaster1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3.xml.rels" ContentType="application/vnd.openxmlformats-package.relationships+xml"/>
  <Override PartName="/ppt/slideMasters/_rels/slideMaster4.xml.rels" ContentType="application/vnd.openxmlformats-package.relationships+xml"/>
  <Override PartName="/ppt/slideMasters/_rels/slideMaster5.xml.rels" ContentType="application/vnd.openxmlformats-package.relationships+xml"/>
  <Override PartName="/ppt/slideMasters/_rels/slideMaster6.xml.rels" ContentType="application/vnd.openxmlformats-package.relationships+xml"/>
  <Override PartName="/ppt/slideMasters/_rels/slideMaster7.xml.rels" ContentType="application/vnd.openxmlformats-package.relationships+xml"/>
  <Override PartName="/ppt/slideMasters/_rels/slideMaster8.xml.rels" ContentType="application/vnd.openxmlformats-package.relationships+xml"/>
  <Override PartName="/ppt/slideMasters/_rels/slideMaster9.xml.rels" ContentType="application/vnd.openxmlformats-package.relationships+xml"/>
  <Override PartName="/ppt/slideMasters/_rels/slideMaster10.xml.rels" ContentType="application/vnd.openxmlformats-package.relationships+xml"/>
  <Override PartName="/ppt/slideMasters/_rels/slideMaster11.xml.rels" ContentType="application/vnd.openxmlformats-package.relationship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theme/theme10.xml" ContentType="application/vnd.openxmlformats-officedocument.theme+xml"/>
  <Override PartName="/ppt/theme/theme1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11.xml.rels" ContentType="application/vnd.openxmlformats-package.relationships+xml"/>
  <Override PartName="/ppt/_rels/presentation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media/image1.png" ContentType="image/png"/>
  <Override PartName="/ppt/media/image2.png" ContentType="image/png"/>
  <Override PartName="/ppt/media/image3.png" ContentType="image/png"/>
  <Override PartName="/ppt/media/image4.png" ContentType="image/png"/>
  <Override PartName="/ppt/media/image5.png" ContentType="image/png"/>
  <Override PartName="/ppt/media/image6.png" ContentType="image/png"/>
  <Override PartName="/ppt/media/image7.png" ContentType="image/png"/>
  <Override PartName="/ppt/media/image8.png" ContentType="image/png"/>
  <Override PartName="/ppt/media/image9.png" ContentType="image/png"/>
  <Override PartName="/ppt/media/image10.png" ContentType="image/png"/>
  <Override PartName="/ppt/media/image11.png" ContentType="image/png"/>
  <Override PartName="/ppt/media/image12.png" ContentType="image/png"/>
  <Override PartName="/ppt/media/image13.png" ContentType="image/png"/>
  <Override PartName="/ppt/media/image14.png" ContentType="image/png"/>
  <Override PartName="/ppt/media/image15.png" ContentType="image/png"/>
  <Override PartName="/ppt/media/image16.png" ContentType="image/png"/>
  <Override PartName="/ppt/media/image17.png" ContentType="image/png"/>
  <Override PartName="/ppt/media/image18.png" ContentType="image/png"/>
  <Override PartName="/ppt/media/image19.png" ContentType="image/png"/>
  <Override PartName="/ppt/media/image20.png" ContentType="image/png"/>
  <Override PartName="/ppt/media/image21.png" ContentType="image/png"/>
  <Override PartName="/ppt/media/image22.png" ContentType="image/png"/>
  <Override PartName="/ppt/media/image23.png" ContentType="image/png"/>
  <Override PartName="/ppt/media/image24.png" ContentType="image/png"/>
  <Override PartName="/ppt/media/image25.png" ContentType="image/png"/>
  <Override PartName="/ppt/media/image26.png" ContentType="image/png"/>
  <Override PartName="/ppt/media/image27.png" ContentType="image/png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  <p:sldMasterId id="2147483652" r:id="rId4"/>
    <p:sldMasterId id="2147483654" r:id="rId5"/>
    <p:sldMasterId id="2147483656" r:id="rId6"/>
    <p:sldMasterId id="2147483658" r:id="rId7"/>
    <p:sldMasterId id="2147483660" r:id="rId8"/>
    <p:sldMasterId id="2147483662" r:id="rId9"/>
    <p:sldMasterId id="2147483664" r:id="rId10"/>
    <p:sldMasterId id="2147483666" r:id="rId11"/>
    <p:sldMasterId id="2147483668" r:id="rId12"/>
  </p:sldMasterIdLst>
  <p:sldIdLst>
    <p:sldId id="256" r:id="rId13"/>
    <p:sldId id="257" r:id="rId14"/>
    <p:sldId id="258" r:id="rId15"/>
    <p:sldId id="259" r:id="rId16"/>
    <p:sldId id="260" r:id="rId17"/>
    <p:sldId id="261" r:id="rId18"/>
    <p:sldId id="262" r:id="rId19"/>
  </p:sldIdLst>
  <p:sldSz cx="12192000" cy="68580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9" Type="http://schemas.openxmlformats.org/officeDocument/2006/relationships/slideMaster" Target="slideMasters/slideMaster8.xml"/><Relationship Id="rId10" Type="http://schemas.openxmlformats.org/officeDocument/2006/relationships/slideMaster" Target="slideMasters/slideMaster9.xml"/><Relationship Id="rId11" Type="http://schemas.openxmlformats.org/officeDocument/2006/relationships/slideMaster" Target="slideMasters/slideMaster10.xml"/><Relationship Id="rId12" Type="http://schemas.openxmlformats.org/officeDocument/2006/relationships/slideMaster" Target="slideMasters/slideMaster11.xml"/><Relationship Id="rId13" Type="http://schemas.openxmlformats.org/officeDocument/2006/relationships/slide" Target="slides/slide1.xml"/><Relationship Id="rId14" Type="http://schemas.openxmlformats.org/officeDocument/2006/relationships/slide" Target="slides/slide2.xml"/><Relationship Id="rId15" Type="http://schemas.openxmlformats.org/officeDocument/2006/relationships/slide" Target="slides/slide3.xml"/><Relationship Id="rId16" Type="http://schemas.openxmlformats.org/officeDocument/2006/relationships/slide" Target="slides/slide4.xml"/><Relationship Id="rId17" Type="http://schemas.openxmlformats.org/officeDocument/2006/relationships/slide" Target="slides/slide5.xml"/><Relationship Id="rId18" Type="http://schemas.openxmlformats.org/officeDocument/2006/relationships/slide" Target="slides/slide6.xml"/><Relationship Id="rId19" Type="http://schemas.openxmlformats.org/officeDocument/2006/relationships/slide" Target="slides/slide7.xml"/><Relationship Id="rId20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s-A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1E44010-752A-4EAC-ABCB-421ABF17E243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s-AR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612CE10F-4B95-4E5A-9E59-0AA67EAF90C7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s-AR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9"/>
          </p:nvPr>
        </p:nvSpPr>
        <p:spPr/>
        <p:txBody>
          <a:bodyPr/>
          <a:p>
            <a:fld id="{1ED29BA9-4796-4CD4-BBCF-942762E2FBAB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7"/>
          </p:nvPr>
        </p:nvSpPr>
        <p:spPr/>
        <p:txBody>
          <a:bodyPr/>
          <a:p>
            <a:r>
              <a:rPr lang="es-AR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BBDFA129-4EB3-44C4-A2C2-F726B9BF1FA0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0"/>
          </p:nvPr>
        </p:nvSpPr>
        <p:spPr/>
        <p:txBody>
          <a:bodyPr/>
          <a:p>
            <a:r>
              <a:rPr lang="es-AR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5"/>
          </p:nvPr>
        </p:nvSpPr>
        <p:spPr/>
        <p:txBody>
          <a:bodyPr/>
          <a:p>
            <a:fld id="{E16D6F10-C0CB-40A8-875D-B99B1F037763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3"/>
          </p:nvPr>
        </p:nvSpPr>
        <p:spPr/>
        <p:txBody>
          <a:bodyPr/>
          <a:p>
            <a:r>
              <a:rPr lang="es-AR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18"/>
          </p:nvPr>
        </p:nvSpPr>
        <p:spPr/>
        <p:txBody>
          <a:bodyPr/>
          <a:p>
            <a:fld id="{80B12A29-137D-4F5C-94C6-1D2DC91EEC63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6"/>
          </p:nvPr>
        </p:nvSpPr>
        <p:spPr/>
        <p:txBody>
          <a:bodyPr/>
          <a:p>
            <a:r>
              <a:rPr lang="es-AR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1"/>
          </p:nvPr>
        </p:nvSpPr>
        <p:spPr/>
        <p:txBody>
          <a:bodyPr/>
          <a:p>
            <a:fld id="{E4ECFAEA-5C11-43EE-9D39-5656B3027C4E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9"/>
          </p:nvPr>
        </p:nvSpPr>
        <p:spPr/>
        <p:txBody>
          <a:bodyPr/>
          <a:p>
            <a:r>
              <a:rPr lang="es-AR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4"/>
          </p:nvPr>
        </p:nvSpPr>
        <p:spPr/>
        <p:txBody>
          <a:bodyPr/>
          <a:p>
            <a:fld id="{8BAE7EA9-4D71-46FC-ADCF-21CA58489A48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22"/>
          </p:nvPr>
        </p:nvSpPr>
        <p:spPr/>
        <p:txBody>
          <a:bodyPr/>
          <a:p>
            <a:r>
              <a:rPr lang="es-AR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7"/>
          </p:nvPr>
        </p:nvSpPr>
        <p:spPr/>
        <p:txBody>
          <a:bodyPr/>
          <a:p>
            <a:fld id="{A9604465-3368-46F7-86E1-3BEFEB9CA34D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5"/>
          </p:nvPr>
        </p:nvSpPr>
        <p:spPr/>
        <p:txBody>
          <a:bodyPr/>
          <a:p>
            <a:r>
              <a:rPr lang="es-AR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0"/>
          </p:nvPr>
        </p:nvSpPr>
        <p:spPr/>
        <p:txBody>
          <a:bodyPr/>
          <a:p>
            <a:fld id="{C22AF171-BF5D-4350-8E6A-B0CEFA3D9C38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8"/>
          </p:nvPr>
        </p:nvSpPr>
        <p:spPr/>
        <p:txBody>
          <a:bodyPr/>
          <a:p>
            <a:r>
              <a:rPr lang="es-AR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3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3"/>
          </p:nvPr>
        </p:nvSpPr>
        <p:spPr/>
        <p:txBody>
          <a:bodyPr/>
          <a:p>
            <a:fld id="{04BCB017-839E-427E-BC85-FB4BF4586E5C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1"/>
          </p:nvPr>
        </p:nvSpPr>
        <p:spPr/>
        <p:txBody>
          <a:bodyPr/>
          <a:p>
            <a:r>
              <a:rPr lang="es-AR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2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3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slideLayout" Target="../slideLayouts/slideLayout4.xml"/>
</Relationships>
</file>

<file path=ppt/slideMasters/_rels/slideMaster5.xml.rels><?xml version="1.0" encoding="UTF-8"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slideLayout" Target="../slideLayouts/slideLayout5.xml"/>
</Relationships>
</file>

<file path=ppt/slideMasters/_rels/slideMaster6.xml.rels><?xml version="1.0" encoding="UTF-8"?>
<Relationships xmlns="http://schemas.openxmlformats.org/package/2006/relationships"><Relationship Id="rId1" Type="http://schemas.openxmlformats.org/officeDocument/2006/relationships/theme" Target="../theme/theme6.xml"/><Relationship Id="rId2" Type="http://schemas.openxmlformats.org/officeDocument/2006/relationships/slideLayout" Target="../slideLayouts/slideLayout6.xml"/>
</Relationships>
</file>

<file path=ppt/slideMasters/_rels/slideMaster7.xml.rels><?xml version="1.0" encoding="UTF-8"?>
<Relationships xmlns="http://schemas.openxmlformats.org/package/2006/relationships"><Relationship Id="rId1" Type="http://schemas.openxmlformats.org/officeDocument/2006/relationships/theme" Target="../theme/theme7.xml"/><Relationship Id="rId2" Type="http://schemas.openxmlformats.org/officeDocument/2006/relationships/slideLayout" Target="../slideLayouts/slideLayout7.xml"/>
</Relationships>
</file>

<file path=ppt/slideMasters/_rels/slideMaster8.xml.rels><?xml version="1.0" encoding="UTF-8"?>
<Relationships xmlns="http://schemas.openxmlformats.org/package/2006/relationships"><Relationship Id="rId1" Type="http://schemas.openxmlformats.org/officeDocument/2006/relationships/theme" Target="../theme/theme8.xml"/><Relationship Id="rId2" Type="http://schemas.openxmlformats.org/officeDocument/2006/relationships/slideLayout" Target="../slideLayouts/slideLayout8.xml"/>
</Relationships>
</file>

<file path=ppt/slideMasters/_rels/slideMaster9.xml.rels><?xml version="1.0" encoding="UTF-8"?>
<Relationships xmlns="http://schemas.openxmlformats.org/package/2006/relationships"><Relationship Id="rId1" Type="http://schemas.openxmlformats.org/officeDocument/2006/relationships/theme" Target="../theme/theme9.xml"/><Relationship Id="rId2" Type="http://schemas.openxmlformats.org/officeDocument/2006/relationships/slideLayout" Target="../slideLayouts/slideLayout9.xml"/>
</Relationships>
</file>

<file path=ppt/slideMasters/_rels/slideMaster10.xml.rels><?xml version="1.0" encoding="UTF-8"?>
<Relationships xmlns="http://schemas.openxmlformats.org/package/2006/relationships"><Relationship Id="rId1" Type="http://schemas.openxmlformats.org/officeDocument/2006/relationships/theme" Target="../theme/theme10.xml"/><Relationship Id="rId2" Type="http://schemas.openxmlformats.org/officeDocument/2006/relationships/slideLayout" Target="../slideLayouts/slideLayout10.xml"/>
</Relationships>
</file>

<file path=ppt/slideMasters/_rels/slideMaster11.xml.rels><?xml version="1.0" encoding="UTF-8"?>
<Relationships xmlns="http://schemas.openxmlformats.org/package/2006/relationships"><Relationship Id="rId1" Type="http://schemas.openxmlformats.org/officeDocument/2006/relationships/theme" Target="../theme/theme11.xml"/><Relationship Id="rId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&lt;fecha/hora&gt;</a:t>
            </a:r>
            <a:endParaRPr b="0" lang="es-AR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s-A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s-AR" sz="1400" spc="-1" strike="noStrike">
                <a:solidFill>
                  <a:srgbClr val="000000"/>
                </a:solidFill>
                <a:latin typeface="Times New Roman"/>
              </a:rPr>
              <a:t>&lt;pie de página&gt;</a:t>
            </a:r>
            <a:endParaRPr b="0" lang="es-A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27E11FFA-DDDD-4DDB-981A-79C197DA1BD2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&lt;número&gt;</a:t>
            </a:fld>
            <a:endParaRPr b="0" lang="es-A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dt" idx="4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&lt;fecha/hora&gt;</a:t>
            </a:r>
            <a:endParaRPr b="0" lang="es-AR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" name="PlaceHolder 4"/>
          <p:cNvSpPr>
            <a:spLocks noGrp="1"/>
          </p:cNvSpPr>
          <p:nvPr>
            <p:ph type="ftr" idx="5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s-A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s-AR" sz="1400" spc="-1" strike="noStrike">
                <a:solidFill>
                  <a:srgbClr val="000000"/>
                </a:solidFill>
                <a:latin typeface="Times New Roman"/>
              </a:rPr>
              <a:t>&lt;pie de página&gt;</a:t>
            </a:r>
            <a:endParaRPr b="0" lang="es-A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" name="PlaceHolder 5"/>
          <p:cNvSpPr>
            <a:spLocks noGrp="1"/>
          </p:cNvSpPr>
          <p:nvPr>
            <p:ph type="sldNum" idx="6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9061AA11-FD12-44B7-BDFC-A88BB5FEA79B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&lt;número&gt;</a:t>
            </a:fld>
            <a:endParaRPr b="0" lang="es-A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1" r:id="rId2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6629400" y="274680"/>
            <a:ext cx="2057040" cy="5851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 vert="eaVert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457200" y="274680"/>
            <a:ext cx="6019560" cy="5851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dt" idx="7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&lt;fecha/hora&gt;</a:t>
            </a:r>
            <a:endParaRPr b="0" lang="es-AR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ftr" idx="8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s-A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s-AR" sz="1400" spc="-1" strike="noStrike">
                <a:solidFill>
                  <a:srgbClr val="000000"/>
                </a:solidFill>
                <a:latin typeface="Times New Roman"/>
              </a:rPr>
              <a:t>&lt;pie de página&gt;</a:t>
            </a:r>
            <a:endParaRPr b="0" lang="es-A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" name="PlaceHolder 5"/>
          <p:cNvSpPr>
            <a:spLocks noGrp="1"/>
          </p:cNvSpPr>
          <p:nvPr>
            <p:ph type="sldNum" idx="9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C2C2DBAB-FDEF-45F5-A7B5-5175B47E949E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&lt;número&gt;</a:t>
            </a:fld>
            <a:endParaRPr b="0" lang="es-A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3" r:id="rId2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8" name="PlaceHolder 3"/>
          <p:cNvSpPr>
            <a:spLocks noGrp="1"/>
          </p:cNvSpPr>
          <p:nvPr>
            <p:ph type="dt" idx="10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&lt;fecha/hora&gt;</a:t>
            </a:r>
            <a:endParaRPr b="0" lang="es-AR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" name="PlaceHolder 4"/>
          <p:cNvSpPr>
            <a:spLocks noGrp="1"/>
          </p:cNvSpPr>
          <p:nvPr>
            <p:ph type="ftr" idx="11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s-A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s-AR" sz="1400" spc="-1" strike="noStrike">
                <a:solidFill>
                  <a:srgbClr val="000000"/>
                </a:solidFill>
                <a:latin typeface="Times New Roman"/>
              </a:rPr>
              <a:t>&lt;pie de página&gt;</a:t>
            </a:r>
            <a:endParaRPr b="0" lang="es-A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" name="PlaceHolder 5"/>
          <p:cNvSpPr>
            <a:spLocks noGrp="1"/>
          </p:cNvSpPr>
          <p:nvPr>
            <p:ph type="sldNum" idx="12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89AC6444-20D8-4CBB-A03F-BE02E5DDE0FD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&lt;número&gt;</a:t>
            </a:fld>
            <a:endParaRPr b="0" lang="es-A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5" r:id="rId2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722160" y="4406760"/>
            <a:ext cx="7772040" cy="1361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b="1" lang="en-US" sz="4000" spc="-1" strike="noStrike" cap="all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 type="body"/>
          </p:nvPr>
        </p:nvSpPr>
        <p:spPr>
          <a:xfrm>
            <a:off x="722160" y="2906640"/>
            <a:ext cx="7772040" cy="1499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Click to edit Master text styles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 type="dt" idx="13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&lt;fecha/hora&gt;</a:t>
            </a:r>
            <a:endParaRPr b="0" lang="es-AR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 type="ftr" idx="14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s-A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s-AR" sz="1400" spc="-1" strike="noStrike">
                <a:solidFill>
                  <a:srgbClr val="000000"/>
                </a:solidFill>
                <a:latin typeface="Times New Roman"/>
              </a:rPr>
              <a:t>&lt;pie de página&gt;</a:t>
            </a:r>
            <a:endParaRPr b="0" lang="es-A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7" name="PlaceHolder 5"/>
          <p:cNvSpPr>
            <a:spLocks noGrp="1"/>
          </p:cNvSpPr>
          <p:nvPr>
            <p:ph type="sldNum" idx="15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361E55D9-4BEF-4608-A8D5-81D6E873DC0E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&lt;número&gt;</a:t>
            </a:fld>
            <a:endParaRPr b="0" lang="es-A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7" r:id="rId2"/>
  </p:sldLayoutIdLst>
</p:sldMaster>
</file>

<file path=ppt/slideMasters/slideMaster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9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0" name="PlaceHolder 3"/>
          <p:cNvSpPr>
            <a:spLocks noGrp="1"/>
          </p:cNvSpPr>
          <p:nvPr>
            <p:ph type="body"/>
          </p:nvPr>
        </p:nvSpPr>
        <p:spPr>
          <a:xfrm>
            <a:off x="464832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1" name="PlaceHolder 4"/>
          <p:cNvSpPr>
            <a:spLocks noGrp="1"/>
          </p:cNvSpPr>
          <p:nvPr>
            <p:ph type="dt" idx="16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&lt;fecha/hora&gt;</a:t>
            </a:r>
            <a:endParaRPr b="0" lang="es-AR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2" name="PlaceHolder 5"/>
          <p:cNvSpPr>
            <a:spLocks noGrp="1"/>
          </p:cNvSpPr>
          <p:nvPr>
            <p:ph type="ftr" idx="17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s-A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s-AR" sz="1400" spc="-1" strike="noStrike">
                <a:solidFill>
                  <a:srgbClr val="000000"/>
                </a:solidFill>
                <a:latin typeface="Times New Roman"/>
              </a:rPr>
              <a:t>&lt;pie de página&gt;</a:t>
            </a:r>
            <a:endParaRPr b="0" lang="es-A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3" name="PlaceHolder 6"/>
          <p:cNvSpPr>
            <a:spLocks noGrp="1"/>
          </p:cNvSpPr>
          <p:nvPr>
            <p:ph type="sldNum" idx="18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AF707506-489B-4FAF-B28D-C5A59BBDBDBC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&lt;número&gt;</a:t>
            </a:fld>
            <a:endParaRPr b="0" lang="es-A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9" r:id="rId2"/>
  </p:sldLayoutIdLst>
</p:sldMaster>
</file>

<file path=ppt/slideMasters/slideMaster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8" name="PlaceHolder 2"/>
          <p:cNvSpPr>
            <a:spLocks noGrp="1"/>
          </p:cNvSpPr>
          <p:nvPr>
            <p:ph type="body"/>
          </p:nvPr>
        </p:nvSpPr>
        <p:spPr>
          <a:xfrm>
            <a:off x="457200" y="1535040"/>
            <a:ext cx="4039920" cy="639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9" name="PlaceHolder 3"/>
          <p:cNvSpPr>
            <a:spLocks noGrp="1"/>
          </p:cNvSpPr>
          <p:nvPr>
            <p:ph type="body"/>
          </p:nvPr>
        </p:nvSpPr>
        <p:spPr>
          <a:xfrm>
            <a:off x="457200" y="2174760"/>
            <a:ext cx="4039920" cy="3951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6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16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6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16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0" name="PlaceHolder 4"/>
          <p:cNvSpPr>
            <a:spLocks noGrp="1"/>
          </p:cNvSpPr>
          <p:nvPr>
            <p:ph type="body"/>
          </p:nvPr>
        </p:nvSpPr>
        <p:spPr>
          <a:xfrm>
            <a:off x="4645080" y="1535040"/>
            <a:ext cx="4041360" cy="639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1" name="PlaceHolder 5"/>
          <p:cNvSpPr>
            <a:spLocks noGrp="1"/>
          </p:cNvSpPr>
          <p:nvPr>
            <p:ph type="body"/>
          </p:nvPr>
        </p:nvSpPr>
        <p:spPr>
          <a:xfrm>
            <a:off x="4645080" y="2174760"/>
            <a:ext cx="4041360" cy="3951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6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16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6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16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2" name="PlaceHolder 6"/>
          <p:cNvSpPr>
            <a:spLocks noGrp="1"/>
          </p:cNvSpPr>
          <p:nvPr>
            <p:ph type="dt" idx="19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&lt;fecha/hora&gt;</a:t>
            </a:r>
            <a:endParaRPr b="0" lang="es-AR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3" name="PlaceHolder 7"/>
          <p:cNvSpPr>
            <a:spLocks noGrp="1"/>
          </p:cNvSpPr>
          <p:nvPr>
            <p:ph type="ftr" idx="20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s-A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s-AR" sz="1400" spc="-1" strike="noStrike">
                <a:solidFill>
                  <a:srgbClr val="000000"/>
                </a:solidFill>
                <a:latin typeface="Times New Roman"/>
              </a:rPr>
              <a:t>&lt;pie de página&gt;</a:t>
            </a:r>
            <a:endParaRPr b="0" lang="es-A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4" name="PlaceHolder 8"/>
          <p:cNvSpPr>
            <a:spLocks noGrp="1"/>
          </p:cNvSpPr>
          <p:nvPr>
            <p:ph type="sldNum" idx="21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D17F2250-19C0-43FB-A45E-8D886C72FBDF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&lt;número&gt;</a:t>
            </a:fld>
            <a:endParaRPr b="0" lang="es-A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1" r:id="rId2"/>
  </p:sldLayoutIdLst>
</p:sldMaster>
</file>

<file path=ppt/slideMasters/slideMaster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6" name="PlaceHolder 2"/>
          <p:cNvSpPr>
            <a:spLocks noGrp="1"/>
          </p:cNvSpPr>
          <p:nvPr>
            <p:ph type="dt" idx="22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&lt;fecha/hora&gt;</a:t>
            </a:r>
            <a:endParaRPr b="0" lang="es-AR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7" name="PlaceHolder 3"/>
          <p:cNvSpPr>
            <a:spLocks noGrp="1"/>
          </p:cNvSpPr>
          <p:nvPr>
            <p:ph type="ftr" idx="23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s-A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s-AR" sz="1400" spc="-1" strike="noStrike">
                <a:solidFill>
                  <a:srgbClr val="000000"/>
                </a:solidFill>
                <a:latin typeface="Times New Roman"/>
              </a:rPr>
              <a:t>&lt;pie de página&gt;</a:t>
            </a:r>
            <a:endParaRPr b="0" lang="es-A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8" name="PlaceHolder 4"/>
          <p:cNvSpPr>
            <a:spLocks noGrp="1"/>
          </p:cNvSpPr>
          <p:nvPr>
            <p:ph type="sldNum" idx="24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18F9193A-3976-4201-98B9-746BFB7900AE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&lt;número&gt;</a:t>
            </a:fld>
            <a:endParaRPr b="0" lang="es-A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3" r:id="rId2"/>
  </p:sldLayoutIdLst>
</p:sldMaster>
</file>

<file path=ppt/slideMasters/slideMaster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dt" idx="25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&lt;fecha/hora&gt;</a:t>
            </a:r>
            <a:endParaRPr b="0" lang="es-AR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1" name="PlaceHolder 2"/>
          <p:cNvSpPr>
            <a:spLocks noGrp="1"/>
          </p:cNvSpPr>
          <p:nvPr>
            <p:ph type="ftr" idx="26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s-A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s-AR" sz="1400" spc="-1" strike="noStrike">
                <a:solidFill>
                  <a:srgbClr val="000000"/>
                </a:solidFill>
                <a:latin typeface="Times New Roman"/>
              </a:rPr>
              <a:t>&lt;pie de página&gt;</a:t>
            </a:r>
            <a:endParaRPr b="0" lang="es-A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2" name="PlaceHolder 3"/>
          <p:cNvSpPr>
            <a:spLocks noGrp="1"/>
          </p:cNvSpPr>
          <p:nvPr>
            <p:ph type="sldNum" idx="27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D95252DE-F67D-40E9-9044-57558D782B87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&lt;número&gt;</a:t>
            </a:fld>
            <a:endParaRPr b="0" lang="es-AR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3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Pulse para editar el formato del texto de título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4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Pulse para editar el formato de texto del esquema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Segundo nivel del esquema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Tercer nivel del esquema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Cuarto nivel del esquema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Quinto nivel del esquema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Sexto nivel del esquema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Séptimo nivel del esquema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5" r:id="rId2"/>
  </p:sldLayoutIdLst>
</p:sldMaster>
</file>

<file path=ppt/slideMasters/slideMaster1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457200" y="272880"/>
            <a:ext cx="3007800" cy="1161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b="1" lang="en-US" sz="20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 type="body"/>
          </p:nvPr>
        </p:nvSpPr>
        <p:spPr>
          <a:xfrm>
            <a:off x="3575160" y="272880"/>
            <a:ext cx="5111280" cy="5852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 type="body"/>
          </p:nvPr>
        </p:nvSpPr>
        <p:spPr>
          <a:xfrm>
            <a:off x="457200" y="1434960"/>
            <a:ext cx="3007800" cy="4690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1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 type="dt" idx="28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&lt;fecha/hora&gt;</a:t>
            </a:r>
            <a:endParaRPr b="0" lang="es-AR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9" name="PlaceHolder 5"/>
          <p:cNvSpPr>
            <a:spLocks noGrp="1"/>
          </p:cNvSpPr>
          <p:nvPr>
            <p:ph type="ftr" idx="29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s-A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s-AR" sz="1400" spc="-1" strike="noStrike">
                <a:solidFill>
                  <a:srgbClr val="000000"/>
                </a:solidFill>
                <a:latin typeface="Times New Roman"/>
              </a:rPr>
              <a:t>&lt;pie de página&gt;</a:t>
            </a:r>
            <a:endParaRPr b="0" lang="es-A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0" name="PlaceHolder 6"/>
          <p:cNvSpPr>
            <a:spLocks noGrp="1"/>
          </p:cNvSpPr>
          <p:nvPr>
            <p:ph type="sldNum" idx="30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8C78ADD2-35A7-4320-A3AC-4E29EA87DB23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&lt;número&gt;</a:t>
            </a:fld>
            <a:endParaRPr b="0" lang="es-A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7" r:id="rId2"/>
  </p:sldLayoutIdLst>
</p:sldMaster>
</file>

<file path=ppt/slideMasters/slideMaster1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86040" cy="566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b="1" lang="en-US" sz="20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2" name="PlaceHolder 2"/>
          <p:cNvSpPr>
            <a:spLocks noGrp="1"/>
          </p:cNvSpPr>
          <p:nvPr>
            <p:ph type="body"/>
          </p:nvPr>
        </p:nvSpPr>
        <p:spPr>
          <a:xfrm>
            <a:off x="1792440" y="61272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Pulse para editar el formato de texto del esquema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Segundo nivel del esquema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Tercer nivel del esquema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Cuarto nivel del esquema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Quinto nivel del esquema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Sexto nivel del esquema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Séptimo nivel del esquema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3" name="PlaceHolder 3"/>
          <p:cNvSpPr>
            <a:spLocks noGrp="1"/>
          </p:cNvSpPr>
          <p:nvPr>
            <p:ph type="body"/>
          </p:nvPr>
        </p:nvSpPr>
        <p:spPr>
          <a:xfrm>
            <a:off x="1792440" y="5367240"/>
            <a:ext cx="5486040" cy="804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1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4" name="PlaceHolder 4"/>
          <p:cNvSpPr>
            <a:spLocks noGrp="1"/>
          </p:cNvSpPr>
          <p:nvPr>
            <p:ph type="dt" idx="3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&lt;fecha/hora&gt;</a:t>
            </a:r>
            <a:endParaRPr b="0" lang="es-AR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5" name="PlaceHolder 5"/>
          <p:cNvSpPr>
            <a:spLocks noGrp="1"/>
          </p:cNvSpPr>
          <p:nvPr>
            <p:ph type="ftr" idx="3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s-A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s-AR" sz="1400" spc="-1" strike="noStrike">
                <a:solidFill>
                  <a:srgbClr val="000000"/>
                </a:solidFill>
                <a:latin typeface="Times New Roman"/>
              </a:rPr>
              <a:t>&lt;pie de página&gt;</a:t>
            </a:r>
            <a:endParaRPr b="0" lang="es-A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6" name="PlaceHolder 6"/>
          <p:cNvSpPr>
            <a:spLocks noGrp="1"/>
          </p:cNvSpPr>
          <p:nvPr>
            <p:ph type="sldNum" idx="3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89862585-4228-462B-BAA5-879028F0C69C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&lt;número&gt;</a:t>
            </a:fld>
            <a:endParaRPr b="0" lang="es-A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9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slideLayout" Target="../slideLayouts/slideLayout9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5" Type="http://schemas.openxmlformats.org/officeDocument/2006/relationships/image" Target="../media/image9.png"/><Relationship Id="rId6" Type="http://schemas.openxmlformats.org/officeDocument/2006/relationships/image" Target="../media/image10.png"/><Relationship Id="rId7" Type="http://schemas.openxmlformats.org/officeDocument/2006/relationships/slideLayout" Target="../slideLayouts/slideLayout9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11.png"/><Relationship Id="rId3" Type="http://schemas.openxmlformats.org/officeDocument/2006/relationships/image" Target="../media/image12.png"/><Relationship Id="rId4" Type="http://schemas.openxmlformats.org/officeDocument/2006/relationships/image" Target="../media/image13.png"/><Relationship Id="rId5" Type="http://schemas.openxmlformats.org/officeDocument/2006/relationships/image" Target="../media/image14.png"/><Relationship Id="rId6" Type="http://schemas.openxmlformats.org/officeDocument/2006/relationships/slideLayout" Target="../slideLayouts/slideLayout9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15.png"/><Relationship Id="rId3" Type="http://schemas.openxmlformats.org/officeDocument/2006/relationships/slideLayout" Target="../slideLayouts/slideLayout9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16.png"/><Relationship Id="rId3" Type="http://schemas.openxmlformats.org/officeDocument/2006/relationships/image" Target="../media/image17.png"/><Relationship Id="rId4" Type="http://schemas.openxmlformats.org/officeDocument/2006/relationships/image" Target="../media/image18.png"/><Relationship Id="rId5" Type="http://schemas.openxmlformats.org/officeDocument/2006/relationships/image" Target="../media/image19.png"/><Relationship Id="rId6" Type="http://schemas.openxmlformats.org/officeDocument/2006/relationships/image" Target="../media/image20.png"/><Relationship Id="rId7" Type="http://schemas.openxmlformats.org/officeDocument/2006/relationships/image" Target="../media/image21.png"/><Relationship Id="rId8" Type="http://schemas.openxmlformats.org/officeDocument/2006/relationships/image" Target="../media/image22.png"/><Relationship Id="rId9" Type="http://schemas.openxmlformats.org/officeDocument/2006/relationships/slideLayout" Target="../slideLayouts/slideLayout9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3.png"/><Relationship Id="rId3" Type="http://schemas.openxmlformats.org/officeDocument/2006/relationships/image" Target="../media/image24.png"/><Relationship Id="rId4" Type="http://schemas.openxmlformats.org/officeDocument/2006/relationships/image" Target="../media/image25.png"/><Relationship Id="rId5" Type="http://schemas.openxmlformats.org/officeDocument/2006/relationships/image" Target="../media/image26.png"/><Relationship Id="rId6" Type="http://schemas.openxmlformats.org/officeDocument/2006/relationships/image" Target="../media/image27.png"/><Relationship Id="rId7" Type="http://schemas.openxmlformats.org/officeDocument/2006/relationships/slideLayout" Target="../slideLayouts/slideLayout9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" name="Picture 1" descr="image.png"/>
          <p:cNvPicPr/>
          <p:nvPr/>
        </p:nvPicPr>
        <p:blipFill>
          <a:blip r:embed="rId1"/>
          <a:stretch/>
        </p:blipFill>
        <p:spPr>
          <a:xfrm>
            <a:off x="0" y="0"/>
            <a:ext cx="12191760" cy="6857640"/>
          </a:xfrm>
          <a:prstGeom prst="rect">
            <a:avLst/>
          </a:prstGeom>
          <a:ln w="0">
            <a:noFill/>
          </a:ln>
        </p:spPr>
      </p:pic>
      <p:sp>
        <p:nvSpPr>
          <p:cNvPr id="68" name="TextBox 2"/>
          <p:cNvSpPr/>
          <p:nvPr/>
        </p:nvSpPr>
        <p:spPr>
          <a:xfrm>
            <a:off x="2170440" y="2631600"/>
            <a:ext cx="7850520" cy="159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5250" spc="-1" strike="noStrike">
                <a:solidFill>
                  <a:srgbClr val="38bdf8"/>
                </a:solidFill>
                <a:latin typeface="Space Grotesk"/>
              </a:rPr>
              <a:t>Administración ZTE OLT</a:t>
            </a:r>
            <a:endParaRPr b="0" lang="es-AR" sz="52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9" name="TextBox 3"/>
          <p:cNvSpPr/>
          <p:nvPr/>
        </p:nvSpPr>
        <p:spPr>
          <a:xfrm>
            <a:off x="2357280" y="3669840"/>
            <a:ext cx="7476840" cy="109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457200">
              <a:lnSpc>
                <a:spcPts val="2880"/>
              </a:lnSpc>
            </a:pPr>
            <a:endParaRPr b="0" lang="es-AR" sz="1800" spc="-1" strike="noStrike">
              <a:solidFill>
                <a:srgbClr val="ffffff"/>
              </a:solidFill>
              <a:latin typeface="Arial"/>
            </a:endParaRPr>
          </a:p>
          <a:p>
            <a:pPr algn="ctr" defTabSz="457200">
              <a:lnSpc>
                <a:spcPts val="2880"/>
              </a:lnSpc>
            </a:pPr>
            <a:endParaRPr b="0" lang="es-AR" sz="1800" spc="-1" strike="noStrike">
              <a:solidFill>
                <a:srgbClr val="ffffff"/>
              </a:solidFill>
              <a:latin typeface="Arial"/>
            </a:endParaRPr>
          </a:p>
          <a:p>
            <a:pPr algn="ctr" defTabSz="457200">
              <a:lnSpc>
                <a:spcPts val="2880"/>
              </a:lnSpc>
            </a:pPr>
            <a:r>
              <a:rPr b="0" lang="en-US" sz="1800" spc="-1" strike="noStrike">
                <a:solidFill>
                  <a:srgbClr val="94a3b8"/>
                </a:solidFill>
                <a:latin typeface="Inter"/>
              </a:rPr>
              <a:t>Guía de Comandos GPON: Perfiles, Configuración y Diagnóstico</a:t>
            </a:r>
            <a:endParaRPr b="0" lang="es-AR" sz="18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" name="Picture 1" descr="image.png"/>
          <p:cNvPicPr/>
          <p:nvPr/>
        </p:nvPicPr>
        <p:blipFill>
          <a:blip r:embed="rId1"/>
          <a:stretch/>
        </p:blipFill>
        <p:spPr>
          <a:xfrm>
            <a:off x="0" y="0"/>
            <a:ext cx="12191760" cy="6857640"/>
          </a:xfrm>
          <a:prstGeom prst="rect">
            <a:avLst/>
          </a:prstGeom>
          <a:ln w="0">
            <a:noFill/>
          </a:ln>
        </p:spPr>
      </p:pic>
      <p:pic>
        <p:nvPicPr>
          <p:cNvPr id="71" name="Picture 2" descr="image.png"/>
          <p:cNvPicPr/>
          <p:nvPr/>
        </p:nvPicPr>
        <p:blipFill>
          <a:blip r:embed="rId2"/>
          <a:stretch/>
        </p:blipFill>
        <p:spPr>
          <a:xfrm>
            <a:off x="571680" y="3331800"/>
            <a:ext cx="5285880" cy="1609200"/>
          </a:xfrm>
          <a:prstGeom prst="rect">
            <a:avLst/>
          </a:prstGeom>
          <a:ln w="0">
            <a:noFill/>
          </a:ln>
        </p:spPr>
      </p:pic>
      <p:pic>
        <p:nvPicPr>
          <p:cNvPr id="72" name="Picture 3" descr="image.png"/>
          <p:cNvPicPr/>
          <p:nvPr/>
        </p:nvPicPr>
        <p:blipFill>
          <a:blip r:embed="rId3"/>
          <a:stretch/>
        </p:blipFill>
        <p:spPr>
          <a:xfrm>
            <a:off x="6334200" y="1626840"/>
            <a:ext cx="5285880" cy="3809520"/>
          </a:xfrm>
          <a:prstGeom prst="rect">
            <a:avLst/>
          </a:prstGeom>
          <a:ln w="0">
            <a:noFill/>
          </a:ln>
        </p:spPr>
      </p:pic>
      <p:sp>
        <p:nvSpPr>
          <p:cNvPr id="73" name="TextBox 4"/>
          <p:cNvSpPr/>
          <p:nvPr/>
        </p:nvSpPr>
        <p:spPr>
          <a:xfrm>
            <a:off x="571680" y="1626840"/>
            <a:ext cx="52858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ts val="2160"/>
              </a:lnSpc>
            </a:pPr>
            <a:r>
              <a:rPr b="0" lang="en-US" sz="1350" spc="-1" strike="noStrike">
                <a:solidFill>
                  <a:srgbClr val="cbd5e1"/>
                </a:solidFill>
                <a:latin typeface="Inter"/>
              </a:rPr>
              <a:t>El comando se utiliza para listar los perfiles de línea configurados globalmente en la OLT.</a:t>
            </a:r>
            <a:endParaRPr b="0" lang="es-AR" sz="13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4" name="TextBox 5"/>
          <p:cNvSpPr/>
          <p:nvPr/>
        </p:nvSpPr>
        <p:spPr>
          <a:xfrm>
            <a:off x="571680" y="2318400"/>
            <a:ext cx="528588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ts val="2160"/>
              </a:lnSpc>
            </a:pPr>
            <a:r>
              <a:rPr b="0" lang="en-US" sz="1350" spc="-1" strike="noStrike">
                <a:solidFill>
                  <a:srgbClr val="cbd5e1"/>
                </a:solidFill>
                <a:latin typeface="Inter"/>
              </a:rPr>
              <a:t>Estos perfiles son "plantillas" base que se asignarán a los clientes para definir sus servicios, el tipo de plan contratado y sus capacidades en la red GPON.</a:t>
            </a:r>
            <a:endParaRPr b="0" lang="es-AR" sz="13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5" name="TextBox 6"/>
          <p:cNvSpPr/>
          <p:nvPr/>
        </p:nvSpPr>
        <p:spPr>
          <a:xfrm>
            <a:off x="571680" y="5132160"/>
            <a:ext cx="528588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ts val="2160"/>
              </a:lnSpc>
            </a:pPr>
            <a:r>
              <a:rPr b="0" i="1" lang="en-US" sz="1350" spc="-1" strike="noStrike">
                <a:solidFill>
                  <a:srgbClr val="94a3b8"/>
                </a:solidFill>
                <a:latin typeface="Inter"/>
              </a:rPr>
              <a:t>Ejemplo:</a:t>
            </a:r>
            <a:r>
              <a:rPr b="0" lang="en-US" sz="1350" spc="-1" strike="noStrike">
                <a:solidFill>
                  <a:srgbClr val="94a3b8"/>
                </a:solidFill>
                <a:latin typeface="Inter"/>
              </a:rPr>
              <a:t> Al instalar un nuevo cliente de 300 Megas, se le asociará el perfil "INT-300M" para heredar automáticamente la configuración requerida.</a:t>
            </a:r>
            <a:endParaRPr b="0" lang="es-AR" sz="135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76" name="Picture 7" descr="image.png"/>
          <p:cNvPicPr/>
          <p:nvPr/>
        </p:nvPicPr>
        <p:blipFill>
          <a:blip r:embed="rId4"/>
          <a:stretch/>
        </p:blipFill>
        <p:spPr>
          <a:xfrm>
            <a:off x="1620000" y="1260000"/>
            <a:ext cx="1245600" cy="237600"/>
          </a:xfrm>
          <a:prstGeom prst="rect">
            <a:avLst/>
          </a:prstGeom>
          <a:ln w="0">
            <a:noFill/>
          </a:ln>
        </p:spPr>
      </p:pic>
      <p:pic>
        <p:nvPicPr>
          <p:cNvPr id="77" name="Picture 8" descr="image.png"/>
          <p:cNvPicPr/>
          <p:nvPr/>
        </p:nvPicPr>
        <p:blipFill>
          <a:blip r:embed="rId5"/>
          <a:stretch/>
        </p:blipFill>
        <p:spPr>
          <a:xfrm>
            <a:off x="6343560" y="1636560"/>
            <a:ext cx="5266800" cy="3790440"/>
          </a:xfrm>
          <a:prstGeom prst="rect">
            <a:avLst/>
          </a:prstGeom>
          <a:ln w="0">
            <a:noFill/>
          </a:ln>
        </p:spPr>
      </p:pic>
      <p:sp>
        <p:nvSpPr>
          <p:cNvPr id="78" name="TextBox 9"/>
          <p:cNvSpPr/>
          <p:nvPr/>
        </p:nvSpPr>
        <p:spPr>
          <a:xfrm>
            <a:off x="571680" y="571680"/>
            <a:ext cx="11601000" cy="45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3000" spc="-1" strike="noStrike">
                <a:solidFill>
                  <a:srgbClr val="38bdf8"/>
                </a:solidFill>
                <a:latin typeface="Space Grotesk"/>
              </a:rPr>
              <a:t>1. Perfiles de Línea (ONU Profiles)</a:t>
            </a:r>
            <a:endParaRPr b="0" lang="es-AR" sz="30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9" name="Picture 1" descr="image.png"/>
          <p:cNvPicPr/>
          <p:nvPr/>
        </p:nvPicPr>
        <p:blipFill>
          <a:blip r:embed="rId1"/>
          <a:stretch/>
        </p:blipFill>
        <p:spPr>
          <a:xfrm>
            <a:off x="0" y="0"/>
            <a:ext cx="12191760" cy="6857640"/>
          </a:xfrm>
          <a:prstGeom prst="rect">
            <a:avLst/>
          </a:prstGeom>
          <a:ln w="0">
            <a:noFill/>
          </a:ln>
        </p:spPr>
      </p:pic>
      <p:pic>
        <p:nvPicPr>
          <p:cNvPr id="80" name="Picture 2" descr="image.png"/>
          <p:cNvPicPr/>
          <p:nvPr/>
        </p:nvPicPr>
        <p:blipFill>
          <a:blip r:embed="rId2"/>
          <a:stretch/>
        </p:blipFill>
        <p:spPr>
          <a:xfrm>
            <a:off x="571680" y="1588680"/>
            <a:ext cx="5285880" cy="4546800"/>
          </a:xfrm>
          <a:prstGeom prst="rect">
            <a:avLst/>
          </a:prstGeom>
          <a:ln w="0">
            <a:noFill/>
          </a:ln>
        </p:spPr>
      </p:pic>
      <p:pic>
        <p:nvPicPr>
          <p:cNvPr id="81" name="Picture 3" descr="image.png"/>
          <p:cNvPicPr/>
          <p:nvPr/>
        </p:nvPicPr>
        <p:blipFill>
          <a:blip r:embed="rId3"/>
          <a:stretch/>
        </p:blipFill>
        <p:spPr>
          <a:xfrm>
            <a:off x="6334200" y="1588680"/>
            <a:ext cx="5285880" cy="4546800"/>
          </a:xfrm>
          <a:prstGeom prst="rect">
            <a:avLst/>
          </a:prstGeom>
          <a:ln w="0">
            <a:noFill/>
          </a:ln>
        </p:spPr>
      </p:pic>
      <p:pic>
        <p:nvPicPr>
          <p:cNvPr id="82" name="Picture 4" descr="image.png"/>
          <p:cNvPicPr/>
          <p:nvPr/>
        </p:nvPicPr>
        <p:blipFill>
          <a:blip r:embed="rId4"/>
          <a:stretch/>
        </p:blipFill>
        <p:spPr>
          <a:xfrm>
            <a:off x="961920" y="3621240"/>
            <a:ext cx="4505040" cy="1609200"/>
          </a:xfrm>
          <a:prstGeom prst="rect">
            <a:avLst/>
          </a:prstGeom>
          <a:ln w="0">
            <a:noFill/>
          </a:ln>
        </p:spPr>
      </p:pic>
      <p:pic>
        <p:nvPicPr>
          <p:cNvPr id="83" name="Picture 5" descr="image.png"/>
          <p:cNvPicPr/>
          <p:nvPr/>
        </p:nvPicPr>
        <p:blipFill>
          <a:blip r:embed="rId5"/>
          <a:stretch/>
        </p:blipFill>
        <p:spPr>
          <a:xfrm>
            <a:off x="6724800" y="3621240"/>
            <a:ext cx="4505040" cy="1609200"/>
          </a:xfrm>
          <a:prstGeom prst="rect">
            <a:avLst/>
          </a:prstGeom>
          <a:ln w="0">
            <a:noFill/>
          </a:ln>
        </p:spPr>
      </p:pic>
      <p:sp>
        <p:nvSpPr>
          <p:cNvPr id="84" name="TextBox 6"/>
          <p:cNvSpPr/>
          <p:nvPr/>
        </p:nvSpPr>
        <p:spPr>
          <a:xfrm>
            <a:off x="961920" y="1979280"/>
            <a:ext cx="4730400" cy="320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100" spc="-1" strike="noStrike">
                <a:solidFill>
                  <a:srgbClr val="38bdf8"/>
                </a:solidFill>
                <a:latin typeface="Space Grotesk"/>
              </a:rPr>
              <a:t>T-CONT (Uplink / Subida)</a:t>
            </a:r>
            <a:endParaRPr b="0" lang="es-AR" sz="2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5" name="TextBox 7"/>
          <p:cNvSpPr/>
          <p:nvPr/>
        </p:nvSpPr>
        <p:spPr>
          <a:xfrm>
            <a:off x="961920" y="2464920"/>
            <a:ext cx="450504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ts val="2160"/>
              </a:lnSpc>
            </a:pPr>
            <a:r>
              <a:rPr b="0" lang="en-US" sz="1350" spc="-1" strike="noStrike">
                <a:solidFill>
                  <a:srgbClr val="cbd5e1"/>
                </a:solidFill>
                <a:latin typeface="Inter"/>
              </a:rPr>
              <a:t>Controla y asigna el límite de velocidad máxima de </a:t>
            </a:r>
            <a:r>
              <a:rPr b="1" lang="en-US" sz="1350" spc="-1" strike="noStrike">
                <a:solidFill>
                  <a:srgbClr val="cbd5e1"/>
                </a:solidFill>
                <a:latin typeface="Inter"/>
              </a:rPr>
              <a:t>subida</a:t>
            </a:r>
            <a:r>
              <a:rPr b="0" lang="en-US" sz="1350" spc="-1" strike="noStrike">
                <a:solidFill>
                  <a:srgbClr val="cbd5e1"/>
                </a:solidFill>
                <a:latin typeface="Inter"/>
              </a:rPr>
              <a:t> desde el cliente (ONU) hacia el proveedor (OLT). El valor está expresado en Kbps.</a:t>
            </a:r>
            <a:endParaRPr b="0" lang="es-AR" sz="13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6" name="TextBox 8"/>
          <p:cNvSpPr/>
          <p:nvPr/>
        </p:nvSpPr>
        <p:spPr>
          <a:xfrm>
            <a:off x="961920" y="5373720"/>
            <a:ext cx="45050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ts val="1800"/>
              </a:lnSpc>
            </a:pPr>
            <a:r>
              <a:rPr b="0" i="1" lang="en-US" sz="1130" spc="-1" strike="noStrike">
                <a:solidFill>
                  <a:srgbClr val="94a3b8"/>
                </a:solidFill>
                <a:latin typeface="Inter"/>
              </a:rPr>
              <a:t>Nota: 1024000 Kbps = 1 Gbps | 307200 Kbps = 300 Mbps</a:t>
            </a:r>
            <a:endParaRPr b="0" lang="es-AR" sz="113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7" name="TextBox 9"/>
          <p:cNvSpPr/>
          <p:nvPr/>
        </p:nvSpPr>
        <p:spPr>
          <a:xfrm>
            <a:off x="6724800" y="1979280"/>
            <a:ext cx="473040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100" spc="-1" strike="noStrike">
                <a:solidFill>
                  <a:srgbClr val="38bdf8"/>
                </a:solidFill>
                <a:latin typeface="Space Grotesk"/>
              </a:rPr>
              <a:t>Traffic Profile (Downlink / Bajada)</a:t>
            </a:r>
            <a:endParaRPr b="0" lang="es-AR" sz="2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8" name="TextBox 10"/>
          <p:cNvSpPr/>
          <p:nvPr/>
        </p:nvSpPr>
        <p:spPr>
          <a:xfrm>
            <a:off x="6724800" y="2464920"/>
            <a:ext cx="450504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ts val="2160"/>
              </a:lnSpc>
            </a:pPr>
            <a:r>
              <a:rPr b="0" lang="en-US" sz="1350" spc="-1" strike="noStrike">
                <a:solidFill>
                  <a:srgbClr val="cbd5e1"/>
                </a:solidFill>
                <a:latin typeface="Inter"/>
              </a:rPr>
              <a:t>Controla la velocidad de </a:t>
            </a:r>
            <a:r>
              <a:rPr b="1" lang="en-US" sz="1350" spc="-1" strike="noStrike">
                <a:solidFill>
                  <a:srgbClr val="cbd5e1"/>
                </a:solidFill>
                <a:latin typeface="Inter"/>
              </a:rPr>
              <a:t>bajada</a:t>
            </a:r>
            <a:r>
              <a:rPr b="0" lang="en-US" sz="1350" spc="-1" strike="noStrike">
                <a:solidFill>
                  <a:srgbClr val="cbd5e1"/>
                </a:solidFill>
                <a:latin typeface="Inter"/>
              </a:rPr>
              <a:t> desde la OLT hacia el cliente. Define el ancho de banda garantizado (</a:t>
            </a:r>
            <a:r>
              <a:rPr b="1" lang="en-US" sz="1350" spc="-1" strike="noStrike">
                <a:solidFill>
                  <a:srgbClr val="cbd5e1"/>
                </a:solidFill>
                <a:latin typeface="Inter"/>
              </a:rPr>
              <a:t>SIR</a:t>
            </a:r>
            <a:r>
              <a:rPr b="0" lang="en-US" sz="1350" spc="-1" strike="noStrike">
                <a:solidFill>
                  <a:srgbClr val="cbd5e1"/>
                </a:solidFill>
                <a:latin typeface="Inter"/>
              </a:rPr>
              <a:t>) y el límite de pico máximo permitido (</a:t>
            </a:r>
            <a:r>
              <a:rPr b="1" lang="en-US" sz="1350" spc="-1" strike="noStrike">
                <a:solidFill>
                  <a:srgbClr val="cbd5e1"/>
                </a:solidFill>
                <a:latin typeface="Inter"/>
              </a:rPr>
              <a:t>PIR</a:t>
            </a:r>
            <a:r>
              <a:rPr b="0" lang="en-US" sz="1350" spc="-1" strike="noStrike">
                <a:solidFill>
                  <a:srgbClr val="cbd5e1"/>
                </a:solidFill>
                <a:latin typeface="Inter"/>
              </a:rPr>
              <a:t>).</a:t>
            </a:r>
            <a:endParaRPr b="0" lang="es-AR" sz="13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9" name="TextBox 11"/>
          <p:cNvSpPr/>
          <p:nvPr/>
        </p:nvSpPr>
        <p:spPr>
          <a:xfrm>
            <a:off x="6724800" y="5373720"/>
            <a:ext cx="45050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ts val="1800"/>
              </a:lnSpc>
            </a:pPr>
            <a:r>
              <a:rPr b="0" i="1" lang="en-US" sz="1130" spc="-1" strike="noStrike">
                <a:solidFill>
                  <a:srgbClr val="94a3b8"/>
                </a:solidFill>
                <a:latin typeface="Inter"/>
              </a:rPr>
              <a:t>SIR = Committed Information Rate | PIR = Peak Information Rate</a:t>
            </a:r>
            <a:endParaRPr b="0" lang="es-AR" sz="113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90" name="Picture 12" descr="image.png"/>
          <p:cNvPicPr/>
          <p:nvPr/>
        </p:nvPicPr>
        <p:blipFill>
          <a:blip r:embed="rId6"/>
          <a:stretch/>
        </p:blipFill>
        <p:spPr>
          <a:xfrm>
            <a:off x="2160000" y="1741680"/>
            <a:ext cx="834120" cy="237600"/>
          </a:xfrm>
          <a:prstGeom prst="rect">
            <a:avLst/>
          </a:prstGeom>
          <a:ln w="0">
            <a:noFill/>
          </a:ln>
        </p:spPr>
      </p:pic>
      <p:sp>
        <p:nvSpPr>
          <p:cNvPr id="91" name="TextBox 13"/>
          <p:cNvSpPr/>
          <p:nvPr/>
        </p:nvSpPr>
        <p:spPr>
          <a:xfrm>
            <a:off x="571680" y="571680"/>
            <a:ext cx="11601000" cy="45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3000" spc="-1" strike="noStrike">
                <a:solidFill>
                  <a:srgbClr val="38bdf8"/>
                </a:solidFill>
                <a:latin typeface="Space Grotesk"/>
              </a:rPr>
              <a:t>2. Gestión de Ancho de Banda</a:t>
            </a:r>
            <a:endParaRPr b="0" lang="es-AR" sz="30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" name="Picture 1" descr="image.png"/>
          <p:cNvPicPr/>
          <p:nvPr/>
        </p:nvPicPr>
        <p:blipFill>
          <a:blip r:embed="rId1"/>
          <a:stretch/>
        </p:blipFill>
        <p:spPr>
          <a:xfrm>
            <a:off x="0" y="0"/>
            <a:ext cx="12191760" cy="6857640"/>
          </a:xfrm>
          <a:prstGeom prst="rect">
            <a:avLst/>
          </a:prstGeom>
          <a:ln w="0">
            <a:noFill/>
          </a:ln>
        </p:spPr>
      </p:pic>
      <p:pic>
        <p:nvPicPr>
          <p:cNvPr id="93" name="Picture 2" descr="image.png"/>
          <p:cNvPicPr/>
          <p:nvPr/>
        </p:nvPicPr>
        <p:blipFill>
          <a:blip r:embed="rId2"/>
          <a:stretch/>
        </p:blipFill>
        <p:spPr>
          <a:xfrm>
            <a:off x="571680" y="3063600"/>
            <a:ext cx="5285880" cy="1395000"/>
          </a:xfrm>
          <a:prstGeom prst="rect">
            <a:avLst/>
          </a:prstGeom>
          <a:ln w="0">
            <a:noFill/>
          </a:ln>
        </p:spPr>
      </p:pic>
      <p:pic>
        <p:nvPicPr>
          <p:cNvPr id="94" name="Picture 3" descr="image.png"/>
          <p:cNvPicPr/>
          <p:nvPr/>
        </p:nvPicPr>
        <p:blipFill>
          <a:blip r:embed="rId3"/>
          <a:stretch/>
        </p:blipFill>
        <p:spPr>
          <a:xfrm>
            <a:off x="6334200" y="1775880"/>
            <a:ext cx="5285880" cy="3809520"/>
          </a:xfrm>
          <a:prstGeom prst="rect">
            <a:avLst/>
          </a:prstGeom>
          <a:ln w="0">
            <a:noFill/>
          </a:ln>
        </p:spPr>
      </p:pic>
      <p:sp>
        <p:nvSpPr>
          <p:cNvPr id="95" name="TextBox 4"/>
          <p:cNvSpPr/>
          <p:nvPr/>
        </p:nvSpPr>
        <p:spPr>
          <a:xfrm>
            <a:off x="571680" y="1775880"/>
            <a:ext cx="5285880" cy="823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ts val="2160"/>
              </a:lnSpc>
            </a:pPr>
            <a:r>
              <a:rPr b="0" lang="en-US" sz="1350" spc="-1" strike="noStrike">
                <a:solidFill>
                  <a:srgbClr val="cbd5e1"/>
                </a:solidFill>
                <a:latin typeface="Inter"/>
              </a:rPr>
              <a:t>El comando es fundamental en el día a día. Sirve para buscar módems que están físicamente conectados al hilo de fibra, pero que </a:t>
            </a:r>
            <a:r>
              <a:rPr b="1" lang="en-US" sz="1350" spc="-1" strike="noStrike">
                <a:solidFill>
                  <a:srgbClr val="cbd5e1"/>
                </a:solidFill>
                <a:latin typeface="Inter"/>
              </a:rPr>
              <a:t>aún no han sido autorizados</a:t>
            </a:r>
            <a:r>
              <a:rPr b="0" lang="en-US" sz="1350" spc="-1" strike="noStrike">
                <a:solidFill>
                  <a:srgbClr val="cbd5e1"/>
                </a:solidFill>
                <a:latin typeface="Inter"/>
              </a:rPr>
              <a:t> ni dados de alta.</a:t>
            </a:r>
            <a:endParaRPr b="0" lang="es-AR" sz="135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96" name="Picture 5" descr="image.png"/>
          <p:cNvPicPr/>
          <p:nvPr/>
        </p:nvPicPr>
        <p:blipFill>
          <a:blip r:embed="rId4"/>
          <a:stretch/>
        </p:blipFill>
        <p:spPr>
          <a:xfrm>
            <a:off x="1531080" y="1382400"/>
            <a:ext cx="2068920" cy="237600"/>
          </a:xfrm>
          <a:prstGeom prst="rect">
            <a:avLst/>
          </a:prstGeom>
          <a:ln w="0">
            <a:noFill/>
          </a:ln>
        </p:spPr>
      </p:pic>
      <p:sp>
        <p:nvSpPr>
          <p:cNvPr id="97" name="TextBox 6"/>
          <p:cNvSpPr/>
          <p:nvPr/>
        </p:nvSpPr>
        <p:spPr>
          <a:xfrm>
            <a:off x="762120" y="4697280"/>
            <a:ext cx="5095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ts val="2160"/>
              </a:lnSpc>
            </a:pPr>
            <a:r>
              <a:rPr b="1" lang="en-US" sz="1350" spc="-1" strike="noStrike">
                <a:solidFill>
                  <a:srgbClr val="cbd5e1"/>
                </a:solidFill>
                <a:latin typeface="Inter"/>
              </a:rPr>
              <a:t>OnuIndex:</a:t>
            </a:r>
            <a:r>
              <a:rPr b="0" lang="en-US" sz="1350" spc="-1" strike="noStrike">
                <a:solidFill>
                  <a:srgbClr val="cbd5e1"/>
                </a:solidFill>
                <a:latin typeface="Inter"/>
              </a:rPr>
              <a:t> Puerto y slot físico donde se detectó luz.</a:t>
            </a:r>
            <a:endParaRPr b="0" lang="es-AR" sz="13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8" name="TextBox 7"/>
          <p:cNvSpPr/>
          <p:nvPr/>
        </p:nvSpPr>
        <p:spPr>
          <a:xfrm>
            <a:off x="762120" y="5114160"/>
            <a:ext cx="5095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ts val="2160"/>
              </a:lnSpc>
            </a:pPr>
            <a:r>
              <a:rPr b="1" lang="en-US" sz="1350" spc="-1" strike="noStrike">
                <a:solidFill>
                  <a:srgbClr val="cbd5e1"/>
                </a:solidFill>
                <a:latin typeface="Inter"/>
              </a:rPr>
              <a:t>Sn:</a:t>
            </a:r>
            <a:r>
              <a:rPr b="0" lang="en-US" sz="1350" spc="-1" strike="noStrike">
                <a:solidFill>
                  <a:srgbClr val="cbd5e1"/>
                </a:solidFill>
                <a:latin typeface="Inter"/>
              </a:rPr>
              <a:t> El Número de Serie (MAC/SN) único del equipo.</a:t>
            </a:r>
            <a:endParaRPr b="0" lang="es-AR" sz="13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9" name="TextBox 8"/>
          <p:cNvSpPr/>
          <p:nvPr/>
        </p:nvSpPr>
        <p:spPr>
          <a:xfrm>
            <a:off x="762120" y="5531400"/>
            <a:ext cx="5095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ts val="2160"/>
              </a:lnSpc>
            </a:pPr>
            <a:r>
              <a:rPr b="1" lang="en-US" sz="1350" spc="-1" strike="noStrike">
                <a:solidFill>
                  <a:srgbClr val="cbd5e1"/>
                </a:solidFill>
                <a:latin typeface="Inter"/>
              </a:rPr>
              <a:t>State:</a:t>
            </a:r>
            <a:r>
              <a:rPr b="0" lang="en-US" sz="1350" spc="-1" strike="noStrike">
                <a:solidFill>
                  <a:srgbClr val="cbd5e1"/>
                </a:solidFill>
                <a:latin typeface="Inter"/>
              </a:rPr>
              <a:t> Aparece como </a:t>
            </a:r>
            <a:r>
              <a:rPr b="0" i="1" lang="en-US" sz="1350" spc="-1" strike="noStrike">
                <a:solidFill>
                  <a:srgbClr val="cbd5e1"/>
                </a:solidFill>
                <a:latin typeface="Inter"/>
              </a:rPr>
              <a:t>unknown</a:t>
            </a:r>
            <a:r>
              <a:rPr b="0" lang="en-US" sz="1350" spc="-1" strike="noStrike">
                <a:solidFill>
                  <a:srgbClr val="cbd5e1"/>
                </a:solidFill>
                <a:latin typeface="Inter"/>
              </a:rPr>
              <a:t> hasta ser configurado.</a:t>
            </a:r>
            <a:endParaRPr b="0" lang="es-AR" sz="135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100" name="Picture 9" descr="image.png"/>
          <p:cNvPicPr/>
          <p:nvPr/>
        </p:nvPicPr>
        <p:blipFill>
          <a:blip r:embed="rId5"/>
          <a:stretch/>
        </p:blipFill>
        <p:spPr>
          <a:xfrm>
            <a:off x="6343560" y="1785600"/>
            <a:ext cx="5266800" cy="3790440"/>
          </a:xfrm>
          <a:prstGeom prst="rect">
            <a:avLst/>
          </a:prstGeom>
          <a:ln w="0">
            <a:noFill/>
          </a:ln>
        </p:spPr>
      </p:pic>
      <p:sp>
        <p:nvSpPr>
          <p:cNvPr id="101" name="TextBox 10"/>
          <p:cNvSpPr/>
          <p:nvPr/>
        </p:nvSpPr>
        <p:spPr>
          <a:xfrm>
            <a:off x="571680" y="4697280"/>
            <a:ext cx="104400" cy="27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ts val="2160"/>
              </a:lnSpc>
            </a:pPr>
            <a:r>
              <a:rPr b="1" lang="en-US" sz="1350" spc="-1" strike="noStrike">
                <a:solidFill>
                  <a:srgbClr val="10b981"/>
                </a:solidFill>
                <a:latin typeface="monospace"/>
              </a:rPr>
              <a:t>&gt;</a:t>
            </a:r>
            <a:endParaRPr b="0" lang="es-AR" sz="13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2" name="TextBox 11"/>
          <p:cNvSpPr/>
          <p:nvPr/>
        </p:nvSpPr>
        <p:spPr>
          <a:xfrm>
            <a:off x="571680" y="5114160"/>
            <a:ext cx="104400" cy="27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ts val="2160"/>
              </a:lnSpc>
            </a:pPr>
            <a:r>
              <a:rPr b="1" lang="en-US" sz="1350" spc="-1" strike="noStrike">
                <a:solidFill>
                  <a:srgbClr val="10b981"/>
                </a:solidFill>
                <a:latin typeface="monospace"/>
              </a:rPr>
              <a:t>&gt;</a:t>
            </a:r>
            <a:endParaRPr b="0" lang="es-AR" sz="13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3" name="TextBox 12"/>
          <p:cNvSpPr/>
          <p:nvPr/>
        </p:nvSpPr>
        <p:spPr>
          <a:xfrm>
            <a:off x="571680" y="5531400"/>
            <a:ext cx="104400" cy="27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ts val="2160"/>
              </a:lnSpc>
            </a:pPr>
            <a:r>
              <a:rPr b="1" lang="en-US" sz="1350" spc="-1" strike="noStrike">
                <a:solidFill>
                  <a:srgbClr val="10b981"/>
                </a:solidFill>
                <a:latin typeface="monospace"/>
              </a:rPr>
              <a:t>&gt;</a:t>
            </a:r>
            <a:endParaRPr b="0" lang="es-AR" sz="13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4" name="TextBox 13"/>
          <p:cNvSpPr/>
          <p:nvPr/>
        </p:nvSpPr>
        <p:spPr>
          <a:xfrm>
            <a:off x="571680" y="571680"/>
            <a:ext cx="11601000" cy="45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3000" spc="-1" strike="noStrike">
                <a:solidFill>
                  <a:srgbClr val="38bdf8"/>
                </a:solidFill>
                <a:latin typeface="Space Grotesk"/>
              </a:rPr>
              <a:t>3. Detección de ONUs Nuevas</a:t>
            </a:r>
            <a:endParaRPr b="0" lang="es-AR" sz="30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5" name="Picture 1" descr="image.png"/>
          <p:cNvPicPr/>
          <p:nvPr/>
        </p:nvPicPr>
        <p:blipFill>
          <a:blip r:embed="rId1"/>
          <a:stretch/>
        </p:blipFill>
        <p:spPr>
          <a:xfrm>
            <a:off x="0" y="0"/>
            <a:ext cx="12191760" cy="6857640"/>
          </a:xfrm>
          <a:prstGeom prst="rect">
            <a:avLst/>
          </a:prstGeom>
          <a:ln w="0">
            <a:noFill/>
          </a:ln>
        </p:spPr>
      </p:pic>
      <p:sp>
        <p:nvSpPr>
          <p:cNvPr id="106" name="TextBox 2"/>
          <p:cNvSpPr/>
          <p:nvPr/>
        </p:nvSpPr>
        <p:spPr>
          <a:xfrm>
            <a:off x="571680" y="2549880"/>
            <a:ext cx="1104876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ts val="2160"/>
              </a:lnSpc>
            </a:pPr>
            <a:r>
              <a:rPr b="0" lang="en-US" sz="1350" spc="-1" strike="noStrike">
                <a:solidFill>
                  <a:srgbClr val="cbd5e1"/>
                </a:solidFill>
                <a:latin typeface="Inter"/>
              </a:rPr>
              <a:t>El comando verifica si los clientes previamente autorizados están en línea (Phase State) y comunicándose correctamente (OMCC).</a:t>
            </a:r>
            <a:endParaRPr b="0" lang="es-AR" sz="135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107" name="Picture 3" descr="image.png"/>
          <p:cNvPicPr/>
          <p:nvPr/>
        </p:nvPicPr>
        <p:blipFill>
          <a:blip r:embed="rId2"/>
          <a:stretch/>
        </p:blipFill>
        <p:spPr>
          <a:xfrm>
            <a:off x="965160" y="1922400"/>
            <a:ext cx="3714840" cy="237600"/>
          </a:xfrm>
          <a:prstGeom prst="rect">
            <a:avLst/>
          </a:prstGeom>
          <a:ln w="0">
            <a:noFill/>
          </a:ln>
        </p:spPr>
      </p:pic>
      <p:sp>
        <p:nvSpPr>
          <p:cNvPr id="108" name="Rounded Rectangle 4"/>
          <p:cNvSpPr/>
          <p:nvPr/>
        </p:nvSpPr>
        <p:spPr>
          <a:xfrm>
            <a:off x="571680" y="3384360"/>
            <a:ext cx="11048760" cy="1790280"/>
          </a:xfrm>
          <a:prstGeom prst="roundRect">
            <a:avLst>
              <a:gd name="adj" fmla="val 0"/>
            </a:avLst>
          </a:prstGeom>
          <a:solidFill>
            <a:srgbClr val="1e293b"/>
          </a:solidFill>
          <a:ln>
            <a:solidFill>
              <a:srgbClr val="4a7eb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graphicFrame>
        <p:nvGraphicFramePr>
          <p:cNvPr id="109" name="Table 5"/>
          <p:cNvGraphicFramePr/>
          <p:nvPr/>
        </p:nvGraphicFramePr>
        <p:xfrm>
          <a:off x="571680" y="3384360"/>
          <a:ext cx="11048760" cy="1790640"/>
        </p:xfrm>
        <a:graphic>
          <a:graphicData uri="http://schemas.openxmlformats.org/drawingml/2006/table">
            <a:tbl>
              <a:tblPr/>
              <a:tblGrid>
                <a:gridCol w="1605600"/>
                <a:gridCol w="1956600"/>
                <a:gridCol w="1903320"/>
                <a:gridCol w="1945800"/>
                <a:gridCol w="3637080"/>
              </a:tblGrid>
              <a:tr h="596880">
                <a:tc>
                  <a:txBody>
                    <a:bodyPr lIns="63360" rIns="63360" tIns="25200" bIns="2520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1" lang="en-US" sz="1500" spc="-1" strike="noStrike">
                          <a:solidFill>
                            <a:srgbClr val="38bdf8"/>
                          </a:solidFill>
                          <a:latin typeface="Space Grotesk"/>
                        </a:rPr>
                        <a:t>OnuIndex</a:t>
                      </a:r>
                      <a:endParaRPr b="0" lang="es-AR" sz="15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63360" marR="6336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 lIns="63360" rIns="63360" tIns="25200" bIns="2520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1" lang="en-US" sz="1500" spc="-1" strike="noStrike">
                          <a:solidFill>
                            <a:srgbClr val="38bdf8"/>
                          </a:solidFill>
                          <a:latin typeface="Space Grotesk"/>
                        </a:rPr>
                        <a:t>Admin State</a:t>
                      </a:r>
                      <a:endParaRPr b="0" lang="es-AR" sz="15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63360" marR="6336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 lIns="63360" rIns="63360" tIns="25200" bIns="2520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1" lang="en-US" sz="1500" spc="-1" strike="noStrike">
                          <a:solidFill>
                            <a:srgbClr val="38bdf8"/>
                          </a:solidFill>
                          <a:latin typeface="Space Grotesk"/>
                        </a:rPr>
                        <a:t>OMCC State</a:t>
                      </a:r>
                      <a:endParaRPr b="0" lang="es-AR" sz="15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63360" marR="6336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 lIns="63360" rIns="63360" tIns="25200" bIns="2520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1" lang="en-US" sz="1500" spc="-1" strike="noStrike">
                          <a:solidFill>
                            <a:srgbClr val="38bdf8"/>
                          </a:solidFill>
                          <a:latin typeface="Space Grotesk"/>
                        </a:rPr>
                        <a:t>Phase State</a:t>
                      </a:r>
                      <a:endParaRPr b="0" lang="es-AR" sz="15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63360" marR="6336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 lIns="63360" rIns="63360" tIns="25200" bIns="2520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1" lang="en-US" sz="1500" spc="-1" strike="noStrike">
                          <a:solidFill>
                            <a:srgbClr val="38bdf8"/>
                          </a:solidFill>
                          <a:latin typeface="Space Grotesk"/>
                        </a:rPr>
                        <a:t>Diagnóstico</a:t>
                      </a:r>
                      <a:endParaRPr b="0" lang="es-AR" sz="15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63360" marR="6336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rgbClr val="0f172a"/>
                    </a:solidFill>
                  </a:tcPr>
                </a:tc>
              </a:tr>
              <a:tr h="596880">
                <a:tc>
                  <a:txBody>
                    <a:bodyPr lIns="63360" rIns="63360" tIns="25200" bIns="2520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solidFill>
                            <a:srgbClr val="cbd5e1"/>
                          </a:solidFill>
                          <a:latin typeface="Consolas"/>
                        </a:rPr>
                        <a:t>1/13/4:1</a:t>
                      </a:r>
                      <a:endParaRPr b="0" lang="es-AR" sz="12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63360" marR="6336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lIns="63360" rIns="63360" tIns="25200" bIns="2520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solidFill>
                            <a:srgbClr val="cbd5e1"/>
                          </a:solidFill>
                          <a:latin typeface="Inter"/>
                        </a:rPr>
                        <a:t>enable</a:t>
                      </a:r>
                      <a:endParaRPr b="0" lang="es-AR" sz="12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63360" marR="6336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lIns="63360" rIns="63360" tIns="25200" bIns="2520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solidFill>
                            <a:srgbClr val="cbd5e1"/>
                          </a:solidFill>
                          <a:latin typeface="Inter"/>
                        </a:rPr>
                        <a:t>disable</a:t>
                      </a:r>
                      <a:endParaRPr b="0" lang="es-AR" sz="12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63360" marR="6336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lIns="63360" rIns="63360" tIns="25200" bIns="2520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solidFill>
                            <a:srgbClr val="cbd5e1"/>
                          </a:solidFill>
                          <a:latin typeface="Inter"/>
                        </a:rPr>
                        <a:t>OffLine</a:t>
                      </a:r>
                      <a:endParaRPr b="0" lang="es-AR" sz="12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63360" marR="6336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lIns="63360" rIns="63360" tIns="25200" bIns="2520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solidFill>
                            <a:srgbClr val="cbd5e1"/>
                          </a:solidFill>
                          <a:latin typeface="Inter"/>
                        </a:rPr>
                        <a:t>Equipo apagado, roto o corte de fibra.</a:t>
                      </a:r>
                      <a:endParaRPr b="0" lang="es-AR" sz="12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63360" marR="6336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</a:tr>
              <a:tr h="596880">
                <a:tc>
                  <a:txBody>
                    <a:bodyPr lIns="63360" rIns="63360" tIns="25200" bIns="2520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solidFill>
                            <a:srgbClr val="cbd5e1"/>
                          </a:solidFill>
                          <a:latin typeface="Consolas"/>
                        </a:rPr>
                        <a:t>1/13/4:2</a:t>
                      </a:r>
                      <a:endParaRPr b="0" lang="es-AR" sz="12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63360" marR="6336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lIns="63360" rIns="63360" tIns="25200" bIns="2520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solidFill>
                            <a:srgbClr val="cbd5e1"/>
                          </a:solidFill>
                          <a:latin typeface="Inter"/>
                        </a:rPr>
                        <a:t>enable</a:t>
                      </a:r>
                      <a:endParaRPr b="0" lang="es-AR" sz="12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63360" marR="6336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lIns="63360" rIns="63360" tIns="25200" bIns="2520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solidFill>
                            <a:srgbClr val="cbd5e1"/>
                          </a:solidFill>
                          <a:latin typeface="Inter"/>
                        </a:rPr>
                        <a:t>enable</a:t>
                      </a:r>
                      <a:endParaRPr b="0" lang="es-AR" sz="12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63360" marR="6336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lIns="63360" rIns="63360" tIns="25200" bIns="2520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solidFill>
                            <a:srgbClr val="cbd5e1"/>
                          </a:solidFill>
                          <a:latin typeface="Inter"/>
                        </a:rPr>
                        <a:t>working</a:t>
                      </a:r>
                      <a:endParaRPr b="0" lang="es-AR" sz="12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63360" marR="6336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lIns="63360" rIns="63360" tIns="25200" bIns="2520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solidFill>
                            <a:srgbClr val="cbd5e1"/>
                          </a:solidFill>
                          <a:latin typeface="Inter"/>
                        </a:rPr>
                        <a:t>Equipo operando de manera óptima.</a:t>
                      </a:r>
                      <a:endParaRPr b="0" lang="es-AR" sz="12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63360" marR="6336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10" name="Rectangle 6"/>
          <p:cNvSpPr/>
          <p:nvPr/>
        </p:nvSpPr>
        <p:spPr>
          <a:xfrm>
            <a:off x="571680" y="4008240"/>
            <a:ext cx="1605240" cy="9000"/>
          </a:xfrm>
          <a:prstGeom prst="rect">
            <a:avLst/>
          </a:prstGeom>
          <a:solidFill>
            <a:srgbClr val="334155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35640" bIns="-356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11" name="Rectangle 7"/>
          <p:cNvSpPr/>
          <p:nvPr/>
        </p:nvSpPr>
        <p:spPr>
          <a:xfrm>
            <a:off x="2177280" y="4008240"/>
            <a:ext cx="1956240" cy="9000"/>
          </a:xfrm>
          <a:prstGeom prst="rect">
            <a:avLst/>
          </a:prstGeom>
          <a:solidFill>
            <a:srgbClr val="334155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35640" bIns="-356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12" name="Rectangle 8"/>
          <p:cNvSpPr/>
          <p:nvPr/>
        </p:nvSpPr>
        <p:spPr>
          <a:xfrm>
            <a:off x="4133880" y="4008240"/>
            <a:ext cx="1903320" cy="9000"/>
          </a:xfrm>
          <a:prstGeom prst="rect">
            <a:avLst/>
          </a:prstGeom>
          <a:solidFill>
            <a:srgbClr val="334155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35640" bIns="-356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13" name="Rectangle 9"/>
          <p:cNvSpPr/>
          <p:nvPr/>
        </p:nvSpPr>
        <p:spPr>
          <a:xfrm>
            <a:off x="6037200" y="4008240"/>
            <a:ext cx="1945440" cy="9000"/>
          </a:xfrm>
          <a:prstGeom prst="rect">
            <a:avLst/>
          </a:prstGeom>
          <a:solidFill>
            <a:srgbClr val="334155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35640" bIns="-356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14" name="Rectangle 10"/>
          <p:cNvSpPr/>
          <p:nvPr/>
        </p:nvSpPr>
        <p:spPr>
          <a:xfrm>
            <a:off x="7983360" y="4008240"/>
            <a:ext cx="3636720" cy="9000"/>
          </a:xfrm>
          <a:prstGeom prst="rect">
            <a:avLst/>
          </a:prstGeom>
          <a:solidFill>
            <a:srgbClr val="334155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35640" bIns="-356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15" name="Rectangle 11"/>
          <p:cNvSpPr/>
          <p:nvPr/>
        </p:nvSpPr>
        <p:spPr>
          <a:xfrm>
            <a:off x="571680" y="4589280"/>
            <a:ext cx="1605240" cy="9000"/>
          </a:xfrm>
          <a:prstGeom prst="rect">
            <a:avLst/>
          </a:prstGeom>
          <a:solidFill>
            <a:srgbClr val="334155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35640" bIns="-356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16" name="Rectangle 12"/>
          <p:cNvSpPr/>
          <p:nvPr/>
        </p:nvSpPr>
        <p:spPr>
          <a:xfrm>
            <a:off x="2177280" y="4589280"/>
            <a:ext cx="1956240" cy="9000"/>
          </a:xfrm>
          <a:prstGeom prst="rect">
            <a:avLst/>
          </a:prstGeom>
          <a:solidFill>
            <a:srgbClr val="334155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35640" bIns="-356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17" name="Rectangle 13"/>
          <p:cNvSpPr/>
          <p:nvPr/>
        </p:nvSpPr>
        <p:spPr>
          <a:xfrm>
            <a:off x="4133880" y="4589280"/>
            <a:ext cx="1903320" cy="9000"/>
          </a:xfrm>
          <a:prstGeom prst="rect">
            <a:avLst/>
          </a:prstGeom>
          <a:solidFill>
            <a:srgbClr val="334155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35640" bIns="-356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18" name="Rectangle 14"/>
          <p:cNvSpPr/>
          <p:nvPr/>
        </p:nvSpPr>
        <p:spPr>
          <a:xfrm>
            <a:off x="6037200" y="4589280"/>
            <a:ext cx="1945440" cy="9000"/>
          </a:xfrm>
          <a:prstGeom prst="rect">
            <a:avLst/>
          </a:prstGeom>
          <a:solidFill>
            <a:srgbClr val="334155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35640" bIns="-356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19" name="Rectangle 15"/>
          <p:cNvSpPr/>
          <p:nvPr/>
        </p:nvSpPr>
        <p:spPr>
          <a:xfrm>
            <a:off x="7983360" y="4589280"/>
            <a:ext cx="3636720" cy="9000"/>
          </a:xfrm>
          <a:prstGeom prst="rect">
            <a:avLst/>
          </a:prstGeom>
          <a:solidFill>
            <a:srgbClr val="334155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35640" bIns="-356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20" name="TextBox 16"/>
          <p:cNvSpPr/>
          <p:nvPr/>
        </p:nvSpPr>
        <p:spPr>
          <a:xfrm>
            <a:off x="571680" y="571680"/>
            <a:ext cx="11601000" cy="45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3000" spc="-1" strike="noStrike">
                <a:solidFill>
                  <a:srgbClr val="38bdf8"/>
                </a:solidFill>
                <a:latin typeface="Space Grotesk"/>
              </a:rPr>
              <a:t>4. Diagnóstico y Estado</a:t>
            </a:r>
            <a:endParaRPr b="0" lang="es-AR" sz="30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1" name="Picture 1" descr="image.png"/>
          <p:cNvPicPr/>
          <p:nvPr/>
        </p:nvPicPr>
        <p:blipFill>
          <a:blip r:embed="rId1"/>
          <a:stretch/>
        </p:blipFill>
        <p:spPr>
          <a:xfrm>
            <a:off x="0" y="0"/>
            <a:ext cx="12191760" cy="6857640"/>
          </a:xfrm>
          <a:prstGeom prst="rect">
            <a:avLst/>
          </a:prstGeom>
          <a:ln w="0">
            <a:noFill/>
          </a:ln>
        </p:spPr>
      </p:pic>
      <p:pic>
        <p:nvPicPr>
          <p:cNvPr id="122" name="Picture 2" descr="image.png"/>
          <p:cNvPicPr/>
          <p:nvPr/>
        </p:nvPicPr>
        <p:blipFill>
          <a:blip r:embed="rId2"/>
          <a:stretch/>
        </p:blipFill>
        <p:spPr>
          <a:xfrm>
            <a:off x="571680" y="2842200"/>
            <a:ext cx="3428640" cy="3030480"/>
          </a:xfrm>
          <a:prstGeom prst="rect">
            <a:avLst/>
          </a:prstGeom>
          <a:ln w="0">
            <a:noFill/>
          </a:ln>
        </p:spPr>
      </p:pic>
      <p:pic>
        <p:nvPicPr>
          <p:cNvPr id="123" name="Picture 3" descr="image.png"/>
          <p:cNvPicPr/>
          <p:nvPr/>
        </p:nvPicPr>
        <p:blipFill>
          <a:blip r:embed="rId3"/>
          <a:stretch/>
        </p:blipFill>
        <p:spPr>
          <a:xfrm>
            <a:off x="4381560" y="2842200"/>
            <a:ext cx="3428640" cy="3030480"/>
          </a:xfrm>
          <a:prstGeom prst="rect">
            <a:avLst/>
          </a:prstGeom>
          <a:ln w="0">
            <a:noFill/>
          </a:ln>
        </p:spPr>
      </p:pic>
      <p:pic>
        <p:nvPicPr>
          <p:cNvPr id="124" name="Picture 4" descr="image.png"/>
          <p:cNvPicPr/>
          <p:nvPr/>
        </p:nvPicPr>
        <p:blipFill>
          <a:blip r:embed="rId4"/>
          <a:stretch/>
        </p:blipFill>
        <p:spPr>
          <a:xfrm>
            <a:off x="8191440" y="2842200"/>
            <a:ext cx="3428640" cy="3030480"/>
          </a:xfrm>
          <a:prstGeom prst="rect">
            <a:avLst/>
          </a:prstGeom>
          <a:ln w="0">
            <a:noFill/>
          </a:ln>
        </p:spPr>
      </p:pic>
      <p:sp>
        <p:nvSpPr>
          <p:cNvPr id="125" name="TextBox 5"/>
          <p:cNvSpPr/>
          <p:nvPr/>
        </p:nvSpPr>
        <p:spPr>
          <a:xfrm>
            <a:off x="2700360" y="1851840"/>
            <a:ext cx="6791040" cy="83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r>
              <a:rPr b="0" lang="en-US" sz="1500" spc="-1" strike="noStrike">
                <a:solidFill>
                  <a:srgbClr val="cbd5e1"/>
                </a:solidFill>
                <a:latin typeface="Inter"/>
              </a:rPr>
              <a:t>Al ejecutar </a:t>
            </a:r>
            <a:endParaRPr b="0" lang="es-AR" sz="1500" spc="-1" strike="noStrike">
              <a:solidFill>
                <a:srgbClr val="ffffff"/>
              </a:solidFill>
              <a:latin typeface="Arial"/>
            </a:endParaRPr>
          </a:p>
          <a:p>
            <a:pPr algn="ctr" defTabSz="457200">
              <a:lnSpc>
                <a:spcPts val="2401"/>
              </a:lnSpc>
            </a:pPr>
            <a:r>
              <a:rPr b="0" lang="en-US" sz="1500" spc="-1" strike="noStrike">
                <a:solidFill>
                  <a:srgbClr val="cbd5e1"/>
                </a:solidFill>
                <a:latin typeface="Inter"/>
              </a:rPr>
              <a:t> </a:t>
            </a:r>
            <a:r>
              <a:rPr b="0" lang="en-US" sz="1500" spc="-1" strike="noStrike">
                <a:solidFill>
                  <a:srgbClr val="cbd5e1"/>
                </a:solidFill>
                <a:latin typeface="Inter"/>
              </a:rPr>
              <a:t>podemos visualizar qué clientes habitan permanentemente en ese puerto.</a:t>
            </a:r>
            <a:endParaRPr b="0" lang="es-AR" sz="15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126" name="Picture 6" descr="image.png"/>
          <p:cNvPicPr/>
          <p:nvPr/>
        </p:nvPicPr>
        <p:blipFill>
          <a:blip r:embed="rId5"/>
          <a:stretch/>
        </p:blipFill>
        <p:spPr>
          <a:xfrm>
            <a:off x="4140000" y="1851840"/>
            <a:ext cx="5258160" cy="266400"/>
          </a:xfrm>
          <a:prstGeom prst="rect">
            <a:avLst/>
          </a:prstGeom>
          <a:ln w="0">
            <a:noFill/>
          </a:ln>
        </p:spPr>
      </p:pic>
      <p:sp>
        <p:nvSpPr>
          <p:cNvPr id="127" name="TextBox 7"/>
          <p:cNvSpPr/>
          <p:nvPr/>
        </p:nvSpPr>
        <p:spPr>
          <a:xfrm>
            <a:off x="1410840" y="3852000"/>
            <a:ext cx="174996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2100" spc="-1" strike="noStrike">
                <a:solidFill>
                  <a:srgbClr val="38bdf8"/>
                </a:solidFill>
                <a:latin typeface="Space Grotesk"/>
              </a:rPr>
              <a:t>Estado Láser</a:t>
            </a:r>
            <a:endParaRPr b="0" lang="es-AR" sz="2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8" name="TextBox 8"/>
          <p:cNvSpPr/>
          <p:nvPr/>
        </p:nvSpPr>
        <p:spPr>
          <a:xfrm>
            <a:off x="866880" y="4337640"/>
            <a:ext cx="2838240" cy="137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457200">
              <a:lnSpc>
                <a:spcPts val="2160"/>
              </a:lnSpc>
            </a:pPr>
            <a:r>
              <a:rPr b="0" lang="en-US" sz="1350" spc="-1" strike="noStrike">
                <a:solidFill>
                  <a:srgbClr val="cbd5e1"/>
                </a:solidFill>
                <a:latin typeface="Inter"/>
              </a:rPr>
              <a:t>La existencia de la instrucción no shutdown garantiza que el puerto del chasis está emitiendo luz y está listo para registrar clientes.</a:t>
            </a:r>
            <a:endParaRPr b="0" lang="es-AR" sz="13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9" name="TextBox 9"/>
          <p:cNvSpPr/>
          <p:nvPr/>
        </p:nvSpPr>
        <p:spPr>
          <a:xfrm>
            <a:off x="4900680" y="3852000"/>
            <a:ext cx="239004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2100" spc="-1" strike="noStrike">
                <a:solidFill>
                  <a:srgbClr val="38bdf8"/>
                </a:solidFill>
                <a:latin typeface="Space Grotesk"/>
              </a:rPr>
              <a:t>Índices Ocupados</a:t>
            </a:r>
            <a:endParaRPr b="0" lang="es-AR" sz="2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0" name="TextBox 10"/>
          <p:cNvSpPr/>
          <p:nvPr/>
        </p:nvSpPr>
        <p:spPr>
          <a:xfrm>
            <a:off x="4676760" y="4337640"/>
            <a:ext cx="2838240" cy="137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457200">
              <a:lnSpc>
                <a:spcPts val="2160"/>
              </a:lnSpc>
            </a:pPr>
            <a:r>
              <a:rPr b="0" lang="en-US" sz="1350" spc="-1" strike="noStrike">
                <a:solidFill>
                  <a:srgbClr val="cbd5e1"/>
                </a:solidFill>
                <a:latin typeface="Inter"/>
              </a:rPr>
              <a:t>Lista los identificadores (ej. onu 1, onu 2) confirmando cuántas conexiones están ocupando físicamente el puerto PON actual.</a:t>
            </a:r>
            <a:endParaRPr b="0" lang="es-AR" sz="13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1" name="TextBox 11"/>
          <p:cNvSpPr/>
          <p:nvPr/>
        </p:nvSpPr>
        <p:spPr>
          <a:xfrm>
            <a:off x="8915760" y="3852000"/>
            <a:ext cx="198000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2100" spc="-1" strike="noStrike">
                <a:solidFill>
                  <a:srgbClr val="38bdf8"/>
                </a:solidFill>
                <a:latin typeface="Space Grotesk"/>
              </a:rPr>
              <a:t>Asignación HW</a:t>
            </a:r>
            <a:endParaRPr b="0" lang="es-AR" sz="2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2" name="TextBox 12"/>
          <p:cNvSpPr/>
          <p:nvPr/>
        </p:nvSpPr>
        <p:spPr>
          <a:xfrm>
            <a:off x="8486640" y="4337640"/>
            <a:ext cx="2838240" cy="109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457200">
              <a:lnSpc>
                <a:spcPts val="2160"/>
              </a:lnSpc>
            </a:pPr>
            <a:r>
              <a:rPr b="0" lang="en-US" sz="1350" spc="-1" strike="noStrike">
                <a:solidFill>
                  <a:srgbClr val="cbd5e1"/>
                </a:solidFill>
                <a:latin typeface="Inter"/>
              </a:rPr>
              <a:t>Por cada índice, muestra el tipo de dispositivo (type ZTEG-F670) y el serial exacto asignado (sn ZTEGC826D2E0).</a:t>
            </a:r>
            <a:endParaRPr b="0" lang="es-AR" sz="135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133" name="Picture 13" descr="image.png"/>
          <p:cNvPicPr/>
          <p:nvPr/>
        </p:nvPicPr>
        <p:blipFill>
          <a:blip r:embed="rId6"/>
          <a:stretch/>
        </p:blipFill>
        <p:spPr>
          <a:xfrm>
            <a:off x="2057400" y="3156480"/>
            <a:ext cx="456840" cy="456840"/>
          </a:xfrm>
          <a:prstGeom prst="rect">
            <a:avLst/>
          </a:prstGeom>
          <a:ln w="0">
            <a:noFill/>
          </a:ln>
        </p:spPr>
      </p:pic>
      <p:pic>
        <p:nvPicPr>
          <p:cNvPr id="134" name="Picture 14" descr="image.png"/>
          <p:cNvPicPr/>
          <p:nvPr/>
        </p:nvPicPr>
        <p:blipFill>
          <a:blip r:embed="rId7"/>
          <a:stretch/>
        </p:blipFill>
        <p:spPr>
          <a:xfrm>
            <a:off x="5810400" y="3156480"/>
            <a:ext cx="571320" cy="456840"/>
          </a:xfrm>
          <a:prstGeom prst="rect">
            <a:avLst/>
          </a:prstGeom>
          <a:ln w="0">
            <a:noFill/>
          </a:ln>
        </p:spPr>
      </p:pic>
      <p:pic>
        <p:nvPicPr>
          <p:cNvPr id="135" name="Picture 15" descr="image.png"/>
          <p:cNvPicPr/>
          <p:nvPr/>
        </p:nvPicPr>
        <p:blipFill>
          <a:blip r:embed="rId8"/>
          <a:stretch/>
        </p:blipFill>
        <p:spPr>
          <a:xfrm>
            <a:off x="9677520" y="3156480"/>
            <a:ext cx="456840" cy="456840"/>
          </a:xfrm>
          <a:prstGeom prst="rect">
            <a:avLst/>
          </a:prstGeom>
          <a:ln w="0">
            <a:noFill/>
          </a:ln>
        </p:spPr>
      </p:pic>
      <p:sp>
        <p:nvSpPr>
          <p:cNvPr id="136" name="TextBox 16"/>
          <p:cNvSpPr/>
          <p:nvPr/>
        </p:nvSpPr>
        <p:spPr>
          <a:xfrm>
            <a:off x="571680" y="571680"/>
            <a:ext cx="11601000" cy="45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3000" spc="-1" strike="noStrike">
                <a:solidFill>
                  <a:srgbClr val="38bdf8"/>
                </a:solidFill>
                <a:latin typeface="Space Grotesk"/>
              </a:rPr>
              <a:t>5. Revisión de Ocupación</a:t>
            </a:r>
            <a:endParaRPr b="0" lang="es-AR" sz="30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7" name="Picture 1" descr="image.png"/>
          <p:cNvPicPr/>
          <p:nvPr/>
        </p:nvPicPr>
        <p:blipFill>
          <a:blip r:embed="rId1"/>
          <a:stretch/>
        </p:blipFill>
        <p:spPr>
          <a:xfrm>
            <a:off x="0" y="0"/>
            <a:ext cx="12191760" cy="6857640"/>
          </a:xfrm>
          <a:prstGeom prst="rect">
            <a:avLst/>
          </a:prstGeom>
          <a:ln w="0">
            <a:noFill/>
          </a:ln>
        </p:spPr>
      </p:pic>
      <p:pic>
        <p:nvPicPr>
          <p:cNvPr id="138" name="Picture 2" descr="image.png"/>
          <p:cNvPicPr/>
          <p:nvPr/>
        </p:nvPicPr>
        <p:blipFill>
          <a:blip r:embed="rId2"/>
          <a:stretch/>
        </p:blipFill>
        <p:spPr>
          <a:xfrm>
            <a:off x="571680" y="1387440"/>
            <a:ext cx="5285880" cy="4949640"/>
          </a:xfrm>
          <a:prstGeom prst="rect">
            <a:avLst/>
          </a:prstGeom>
          <a:ln w="0">
            <a:noFill/>
          </a:ln>
        </p:spPr>
      </p:pic>
      <p:pic>
        <p:nvPicPr>
          <p:cNvPr id="139" name="Picture 3" descr="image.png"/>
          <p:cNvPicPr/>
          <p:nvPr/>
        </p:nvPicPr>
        <p:blipFill>
          <a:blip r:embed="rId3"/>
          <a:stretch/>
        </p:blipFill>
        <p:spPr>
          <a:xfrm>
            <a:off x="6334200" y="1387440"/>
            <a:ext cx="5285880" cy="4949640"/>
          </a:xfrm>
          <a:prstGeom prst="rect">
            <a:avLst/>
          </a:prstGeom>
          <a:ln w="0">
            <a:noFill/>
          </a:ln>
        </p:spPr>
      </p:pic>
      <p:pic>
        <p:nvPicPr>
          <p:cNvPr id="140" name="Picture 4" descr="image.png"/>
          <p:cNvPicPr/>
          <p:nvPr/>
        </p:nvPicPr>
        <p:blipFill>
          <a:blip r:embed="rId4"/>
          <a:stretch/>
        </p:blipFill>
        <p:spPr>
          <a:xfrm>
            <a:off x="961920" y="3694320"/>
            <a:ext cx="4505040" cy="2252160"/>
          </a:xfrm>
          <a:prstGeom prst="rect">
            <a:avLst/>
          </a:prstGeom>
          <a:ln w="0">
            <a:noFill/>
          </a:ln>
        </p:spPr>
      </p:pic>
      <p:pic>
        <p:nvPicPr>
          <p:cNvPr id="141" name="Picture 5" descr="image.png"/>
          <p:cNvPicPr/>
          <p:nvPr/>
        </p:nvPicPr>
        <p:blipFill>
          <a:blip r:embed="rId5"/>
          <a:stretch/>
        </p:blipFill>
        <p:spPr>
          <a:xfrm>
            <a:off x="6724800" y="3420000"/>
            <a:ext cx="4505040" cy="1395000"/>
          </a:xfrm>
          <a:prstGeom prst="rect">
            <a:avLst/>
          </a:prstGeom>
          <a:ln w="0">
            <a:noFill/>
          </a:ln>
        </p:spPr>
      </p:pic>
      <p:sp>
        <p:nvSpPr>
          <p:cNvPr id="142" name="TextBox 6"/>
          <p:cNvSpPr/>
          <p:nvPr/>
        </p:nvSpPr>
        <p:spPr>
          <a:xfrm>
            <a:off x="961920" y="1778040"/>
            <a:ext cx="4730400" cy="320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100" spc="-1" strike="noStrike">
                <a:solidFill>
                  <a:srgbClr val="38bdf8"/>
                </a:solidFill>
                <a:latin typeface="Space Grotesk"/>
              </a:rPr>
              <a:t>Mapeo de Interfaces Físicas</a:t>
            </a:r>
            <a:endParaRPr b="0" lang="es-AR" sz="2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3" name="TextBox 7"/>
          <p:cNvSpPr/>
          <p:nvPr/>
        </p:nvSpPr>
        <p:spPr>
          <a:xfrm>
            <a:off x="961920" y="2263680"/>
            <a:ext cx="4505040" cy="109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ts val="2160"/>
              </a:lnSpc>
            </a:pPr>
            <a:r>
              <a:rPr b="0" lang="en-US" sz="1350" spc="-1" strike="noStrike">
                <a:solidFill>
                  <a:srgbClr val="cbd5e1"/>
                </a:solidFill>
                <a:latin typeface="Inter"/>
              </a:rPr>
              <a:t>El comando le indica a la OLT qué puertos físicos trae de fábrica un modelo específico (ej. </a:t>
            </a:r>
            <a:r>
              <a:rPr b="1" lang="en-US" sz="1350" spc="-1" strike="noStrike">
                <a:solidFill>
                  <a:srgbClr val="cbd5e1"/>
                </a:solidFill>
                <a:latin typeface="Inter"/>
              </a:rPr>
              <a:t>ZTEG-F670L</a:t>
            </a:r>
            <a:r>
              <a:rPr b="0" lang="en-US" sz="1350" spc="-1" strike="noStrike">
                <a:solidFill>
                  <a:srgbClr val="cbd5e1"/>
                </a:solidFill>
                <a:latin typeface="Inter"/>
              </a:rPr>
              <a:t>) para que luego se puedan configurar remotamente.</a:t>
            </a:r>
            <a:endParaRPr b="0" lang="es-AR" sz="13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4" name="TextBox 8"/>
          <p:cNvSpPr/>
          <p:nvPr/>
        </p:nvSpPr>
        <p:spPr>
          <a:xfrm>
            <a:off x="6724800" y="1778040"/>
            <a:ext cx="4730400" cy="320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100" spc="-1" strike="noStrike">
                <a:solidFill>
                  <a:srgbClr val="38bdf8"/>
                </a:solidFill>
                <a:latin typeface="Space Grotesk"/>
              </a:rPr>
              <a:t>Parámetros de Capacidad</a:t>
            </a:r>
            <a:endParaRPr b="0" lang="es-AR" sz="2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5" name="TextBox 9"/>
          <p:cNvSpPr/>
          <p:nvPr/>
        </p:nvSpPr>
        <p:spPr>
          <a:xfrm>
            <a:off x="6724800" y="2263680"/>
            <a:ext cx="450504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ts val="2160"/>
              </a:lnSpc>
            </a:pPr>
            <a:r>
              <a:rPr b="0" lang="en-US" sz="1350" spc="-1" strike="noStrike">
                <a:solidFill>
                  <a:srgbClr val="cbd5e1"/>
                </a:solidFill>
                <a:latin typeface="Inter"/>
              </a:rPr>
              <a:t>Además de mapear los puertos físicos (4 Ethernet, 1 Telefónico, 1 WiFi), también define los límites lógicos de hardware soportados por este equipo.</a:t>
            </a:r>
            <a:endParaRPr b="0" lang="es-AR" sz="135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146" name="Picture 10" descr="image.png"/>
          <p:cNvPicPr/>
          <p:nvPr/>
        </p:nvPicPr>
        <p:blipFill>
          <a:blip r:embed="rId6"/>
          <a:stretch/>
        </p:blipFill>
        <p:spPr>
          <a:xfrm>
            <a:off x="1962000" y="2098440"/>
            <a:ext cx="1245600" cy="237600"/>
          </a:xfrm>
          <a:prstGeom prst="rect">
            <a:avLst/>
          </a:prstGeom>
          <a:ln w="0">
            <a:noFill/>
          </a:ln>
        </p:spPr>
      </p:pic>
      <p:sp>
        <p:nvSpPr>
          <p:cNvPr id="147" name="TextBox 11"/>
          <p:cNvSpPr/>
          <p:nvPr/>
        </p:nvSpPr>
        <p:spPr>
          <a:xfrm>
            <a:off x="571680" y="520560"/>
            <a:ext cx="11601000" cy="45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3000" spc="-1" strike="noStrike">
                <a:solidFill>
                  <a:srgbClr val="38bdf8"/>
                </a:solidFill>
                <a:latin typeface="Space Grotesk"/>
              </a:rPr>
              <a:t>6. Definición de Hardware</a:t>
            </a:r>
            <a:endParaRPr b="0" lang="es-AR" sz="30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8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9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0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</TotalTime>
  <Application>PPT_Plus/1.0.0.0$Windows_X86_64 LibreOffice_project/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:creator/>
  <dc:description>generated using python-pptx</dc:description>
  <dc:language>es-AR</dc:language>
  <cp:lastModifiedBy/>
  <dcterms:modified xsi:type="dcterms:W3CDTF">2026-09-16T00:35:56Z</dcterms:modified>
  <cp:revision>2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