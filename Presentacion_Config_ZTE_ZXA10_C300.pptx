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15B902-5EB2-401D-97B9-3753BE1005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2A3A15-F270-4F0B-94E4-717570EFED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1891558-CF79-4186-89AD-2B08824D82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65B08B2-A73D-4924-A240-A9B65B8847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0406F4C-7820-49B5-843C-D65BDBC661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B10E823-1275-4B7A-97A8-CBB8E92674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01BD73C-A96F-4248-B9BF-9109E5B3DF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5760C37-A0A0-44ED-AF96-95B1F1ADEA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4B438F6-C911-4DF3-9F62-23F75E0A81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544EBAB-7ED8-465C-8D40-43EAB748E3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0A8D63D-6D43-431A-A0ED-828D72F83C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0CE579-BA3C-4834-A9A2-AE8844A8209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135B02-6426-443E-B031-41D015AC01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5FDC9A-3E46-4C94-AB9B-053453E6BC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844673-0011-4E79-8E41-6D022CE4E8E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6CAA24-267E-46C2-B1B0-1B385E0FCF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E1E2C0-53D4-4AED-AED3-25FA286938E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BDC304-3E3A-4403-8FBE-E64B8C44732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064804-D8BA-491B-A2E6-F71D038222C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920664-4C5B-402E-8C24-8DC828ADE63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1D1E98-DA13-4017-BEC2-FA188C17B9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6D0D4F-FE19-45E3-A048-82DF0864BD5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val 1"/>
          <p:cNvSpPr/>
          <p:nvPr/>
        </p:nvSpPr>
        <p:spPr>
          <a:xfrm>
            <a:off x="914400" y="1828800"/>
            <a:ext cx="292320" cy="292320"/>
          </a:xfrm>
          <a:prstGeom prst="ellipse">
            <a:avLst/>
          </a:prstGeom>
          <a:solidFill>
            <a:srgbClr val="37a0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Oval 2"/>
          <p:cNvSpPr/>
          <p:nvPr/>
        </p:nvSpPr>
        <p:spPr>
          <a:xfrm>
            <a:off x="2834640" y="1097280"/>
            <a:ext cx="292320" cy="292320"/>
          </a:xfrm>
          <a:prstGeom prst="ellipse">
            <a:avLst/>
          </a:prstGeom>
          <a:solidFill>
            <a:srgbClr val="37a0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Oval 3"/>
          <p:cNvSpPr/>
          <p:nvPr/>
        </p:nvSpPr>
        <p:spPr>
          <a:xfrm>
            <a:off x="4754880" y="2011680"/>
            <a:ext cx="292320" cy="292320"/>
          </a:xfrm>
          <a:prstGeom prst="ellipse">
            <a:avLst/>
          </a:prstGeom>
          <a:solidFill>
            <a:srgbClr val="37a0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Oval 4"/>
          <p:cNvSpPr/>
          <p:nvPr/>
        </p:nvSpPr>
        <p:spPr>
          <a:xfrm>
            <a:off x="6675120" y="1188720"/>
            <a:ext cx="292320" cy="292320"/>
          </a:xfrm>
          <a:prstGeom prst="ellipse">
            <a:avLst/>
          </a:prstGeom>
          <a:solidFill>
            <a:srgbClr val="37a0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Oval 5"/>
          <p:cNvSpPr/>
          <p:nvPr/>
        </p:nvSpPr>
        <p:spPr>
          <a:xfrm>
            <a:off x="8595360" y="2011680"/>
            <a:ext cx="292320" cy="292320"/>
          </a:xfrm>
          <a:prstGeom prst="ellipse">
            <a:avLst/>
          </a:prstGeom>
          <a:solidFill>
            <a:srgbClr val="37a0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Oval 6"/>
          <p:cNvSpPr/>
          <p:nvPr/>
        </p:nvSpPr>
        <p:spPr>
          <a:xfrm>
            <a:off x="10241280" y="1280160"/>
            <a:ext cx="292320" cy="292320"/>
          </a:xfrm>
          <a:prstGeom prst="ellipse">
            <a:avLst/>
          </a:prstGeom>
          <a:solidFill>
            <a:srgbClr val="37a0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73" name="Connector 7"/>
          <p:cNvCxnSpPr/>
          <p:nvPr/>
        </p:nvCxnSpPr>
        <p:spPr>
          <a:xfrm flipV="1">
            <a:off x="1060560" y="1243440"/>
            <a:ext cx="1920600" cy="731880"/>
          </a:xfrm>
          <a:prstGeom prst="straightConnector1">
            <a:avLst/>
          </a:prstGeom>
          <a:ln>
            <a:solidFill>
              <a:srgbClr val="416487"/>
            </a:solidFill>
            <a:round/>
          </a:ln>
        </p:spPr>
      </p:cxnSp>
      <p:cxnSp>
        <p:nvCxnSpPr>
          <p:cNvPr id="74" name="Connector 8"/>
          <p:cNvCxnSpPr/>
          <p:nvPr/>
        </p:nvCxnSpPr>
        <p:spPr>
          <a:xfrm>
            <a:off x="2980800" y="1243440"/>
            <a:ext cx="1920600" cy="914760"/>
          </a:xfrm>
          <a:prstGeom prst="straightConnector1">
            <a:avLst/>
          </a:prstGeom>
          <a:ln>
            <a:solidFill>
              <a:srgbClr val="416487"/>
            </a:solidFill>
            <a:round/>
          </a:ln>
        </p:spPr>
      </p:cxnSp>
      <p:cxnSp>
        <p:nvCxnSpPr>
          <p:cNvPr id="75" name="Connector 9"/>
          <p:cNvCxnSpPr/>
          <p:nvPr/>
        </p:nvCxnSpPr>
        <p:spPr>
          <a:xfrm flipV="1">
            <a:off x="4901040" y="1334880"/>
            <a:ext cx="1920600" cy="823320"/>
          </a:xfrm>
          <a:prstGeom prst="straightConnector1">
            <a:avLst/>
          </a:prstGeom>
          <a:ln>
            <a:solidFill>
              <a:srgbClr val="416487"/>
            </a:solidFill>
            <a:round/>
          </a:ln>
        </p:spPr>
      </p:cxnSp>
      <p:cxnSp>
        <p:nvCxnSpPr>
          <p:cNvPr id="76" name="Connector 10"/>
          <p:cNvCxnSpPr/>
          <p:nvPr/>
        </p:nvCxnSpPr>
        <p:spPr>
          <a:xfrm>
            <a:off x="6821280" y="1334880"/>
            <a:ext cx="1920600" cy="823320"/>
          </a:xfrm>
          <a:prstGeom prst="straightConnector1">
            <a:avLst/>
          </a:prstGeom>
          <a:ln>
            <a:solidFill>
              <a:srgbClr val="416487"/>
            </a:solidFill>
            <a:round/>
          </a:ln>
        </p:spPr>
      </p:cxnSp>
      <p:cxnSp>
        <p:nvCxnSpPr>
          <p:cNvPr id="77" name="Connector 11"/>
          <p:cNvCxnSpPr/>
          <p:nvPr/>
        </p:nvCxnSpPr>
        <p:spPr>
          <a:xfrm flipV="1">
            <a:off x="8741520" y="1426320"/>
            <a:ext cx="1646280" cy="731880"/>
          </a:xfrm>
          <a:prstGeom prst="straightConnector1">
            <a:avLst/>
          </a:prstGeom>
          <a:ln>
            <a:solidFill>
              <a:srgbClr val="416487"/>
            </a:solidFill>
            <a:round/>
          </a:ln>
        </p:spPr>
      </p:cxnSp>
      <p:sp>
        <p:nvSpPr>
          <p:cNvPr id="78" name="TextBox 12"/>
          <p:cNvSpPr/>
          <p:nvPr/>
        </p:nvSpPr>
        <p:spPr>
          <a:xfrm>
            <a:off x="1585440" y="2788920"/>
            <a:ext cx="908136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5f7fa"/>
                </a:solidFill>
                <a:latin typeface="Aptos Display"/>
              </a:rPr>
              <a:t>Configuración técnica de una OLT</a:t>
            </a:r>
            <a:br>
              <a:rPr sz="3400"/>
            </a:br>
            <a:r>
              <a:rPr b="1" lang="en-US" sz="3400" spc="-1" strike="noStrike">
                <a:solidFill>
                  <a:srgbClr val="f5f7fa"/>
                </a:solidFill>
                <a:latin typeface="Aptos Display"/>
              </a:rPr>
              <a:t>ZTE ZXA10 C300</a:t>
            </a:r>
            <a:endParaRPr b="0" lang="es-AR" sz="3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aabed2"/>
                </a:solidFill>
                <a:latin typeface="Aptos"/>
              </a:rPr>
              <a:t>Guía paso a paso: acceso, hardware, VLAN, uplinks, GPON, ONU, diagnóstico y respaldo</a:t>
            </a:r>
            <a:endParaRPr b="0" lang="es-A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19baa"/>
                </a:solidFill>
                <a:latin typeface="Calibri"/>
              </a:rPr>
              <a:t>1</a:t>
            </a:r>
            <a:endParaRPr b="0" lang="es-A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2039040" y="320040"/>
            <a:ext cx="80830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1. Objetivo y recorrido de la configuración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5893920" y="932760"/>
            <a:ext cx="229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731520" y="1417320"/>
            <a:ext cx="10606680" cy="22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800" spc="-1" strike="noStrike">
                <a:solidFill>
                  <a:srgbClr val="2d3746"/>
                </a:solidFill>
                <a:latin typeface="Aptos"/>
              </a:rPr>
              <a:t>Partir del acceso a la OLT y dejar operativo el plano de administración.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800" spc="-1" strike="noStrike">
                <a:solidFill>
                  <a:srgbClr val="2d3746"/>
                </a:solidFill>
                <a:latin typeface="Aptos"/>
              </a:rPr>
              <a:t>Definir chasis, tarjetas, parámetros globales y condiciones de operación.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800" spc="-1" strike="noStrike">
                <a:solidFill>
                  <a:srgbClr val="2d3746"/>
                </a:solidFill>
                <a:latin typeface="Aptos"/>
              </a:rPr>
              <a:t>Crear VLAN e interfaces de gestión OOB e In-Band.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800" spc="-1" strike="noStrike">
                <a:solidFill>
                  <a:srgbClr val="2d3746"/>
                </a:solidFill>
                <a:latin typeface="Aptos"/>
              </a:rPr>
              <a:t>Preparar los uplinks para transportar el tráfico.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800" spc="-1" strike="noStrike">
                <a:solidFill>
                  <a:srgbClr val="2d3746"/>
                </a:solidFill>
                <a:latin typeface="Aptos"/>
              </a:rPr>
              <a:t>Crear perfiles GPON, registrar ONUs y asociar el servicio de Internet.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800" spc="-1" strike="noStrike">
                <a:solidFill>
                  <a:srgbClr val="2d3746"/>
                </a:solidFill>
                <a:latin typeface="Aptos"/>
              </a:rPr>
              <a:t>Cerrar con verificación, diagnóstico y guardado permanente.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4"/>
          <p:cNvSpPr/>
          <p:nvPr/>
        </p:nvSpPr>
        <p:spPr>
          <a:xfrm>
            <a:off x="731520" y="5349240"/>
            <a:ext cx="10606680" cy="6854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Idea central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La configuración no se hace como una lista aislada de comandos: cada fase prepara los recursos que necesita la siguiente.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2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2064960" y="320040"/>
            <a:ext cx="80312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2. Acceso inicial y parámetros de consola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3608640" y="932760"/>
            <a:ext cx="4815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Primero se garantiza una vía confiable para entrar al equipo.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731520" y="1417320"/>
            <a:ext cx="5577480" cy="21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Consola CLI: 9600 bps, 8 bits de datos, sin paridad, 1 bit de parada y sin control de flujo.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El documento define una contraseña de emergencia para el modo CLI.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Gestión OOB por mng1: 10.0.10.100/24.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Protocolos indicados: Telnet y SSH v2; usuario local con privilegio 15.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4"/>
          <p:cNvSpPr/>
          <p:nvPr/>
        </p:nvSpPr>
        <p:spPr>
          <a:xfrm>
            <a:off x="6629400" y="1508760"/>
            <a:ext cx="4754520" cy="205704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dce8f0"/>
                </a:solidFill>
                <a:latin typeface="Consolas"/>
              </a:rPr>
              <a:t>9600 bps | 8N1</a:t>
            </a:r>
            <a:endParaRPr b="0" lang="es-A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dce8f0"/>
                </a:solidFill>
                <a:latin typeface="Consolas"/>
              </a:rPr>
              <a:t>mng1 → 10.0.10.100/24</a:t>
            </a:r>
            <a:endParaRPr b="0" lang="es-A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dce8f0"/>
                </a:solidFill>
                <a:latin typeface="Consolas"/>
              </a:rPr>
              <a:t>Telnet / SSH v2</a:t>
            </a:r>
            <a:endParaRPr b="0" lang="es-AR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dce8f0"/>
                </a:solidFill>
                <a:latin typeface="Consolas"/>
              </a:rPr>
              <a:t>usuario local → privilege 15</a:t>
            </a:r>
            <a:endParaRPr b="0" lang="es-A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ounded Rectangle 5"/>
          <p:cNvSpPr/>
          <p:nvPr/>
        </p:nvSpPr>
        <p:spPr>
          <a:xfrm>
            <a:off x="6629400" y="3886200"/>
            <a:ext cx="4754520" cy="123408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En esta etapa el objetivo es simple: tener acceso físico y remoto antes de tocar el resto de la configuración.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3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1734120" y="320040"/>
            <a:ext cx="86925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3. Fase 1 — Usuarios y acceso administrativo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3049920" y="932760"/>
            <a:ext cx="5932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Se configura el control de acceso antes de continuar con la infraestructura.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ounded Rectangle 3"/>
          <p:cNvSpPr/>
          <p:nvPr/>
        </p:nvSpPr>
        <p:spPr>
          <a:xfrm>
            <a:off x="685800" y="1325880"/>
            <a:ext cx="6903360" cy="443448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enable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configure terminal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enable secret level 15 gpon1234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username cidi password gpon1234 privilege 15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username cidi max-sessions 16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username login-range name cidi login-begin 00:00:00 login-end 23:59:59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username expire-date name cidi datetime 12-31-2099 23:59:59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user-authentication-type local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user-authorization-type local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4"/>
          <p:cNvSpPr/>
          <p:nvPr/>
        </p:nvSpPr>
        <p:spPr>
          <a:xfrm>
            <a:off x="7863840" y="1554480"/>
            <a:ext cx="3565800" cy="15998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¿Qué conseguimos?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Autenticación y autorización locales, un administrador con privilegio 15, hasta 16 sesiones y una ventana de acceso definida.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5"/>
          <p:cNvSpPr/>
          <p:nvPr/>
        </p:nvSpPr>
        <p:spPr>
          <a:xfrm>
            <a:off x="7863840" y="3429000"/>
            <a:ext cx="3565800" cy="15998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be78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e782d"/>
                </a:solidFill>
                <a:latin typeface="Aptos"/>
              </a:rPr>
              <a:t>Importante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Las credenciales aparecen en el documento fuente. En una presentación para terceros conviene reemplazarlas por valores enmascarados.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4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1360800" y="320040"/>
            <a:ext cx="94395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4. Fase 2 — Inicialización del sistema y hardware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3178800" y="932760"/>
            <a:ext cx="5675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La OLT necesita conocer físicamente su rack, shelf y tarjetas instaladas.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685800" y="1417320"/>
            <a:ext cx="5028840" cy="20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Modo de reenvío global: normal-mode.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Rack 1 tipo IEC19 y shelf 1 tipo IEC_SHELF.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Fuentes PRWH en slots 0 y 1.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Placas GPON GTGH en slots 13, 14 y 15.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Placas GTGO en slots 16 y 17.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Uplinks HUVQ en slots 19 y 20.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ounded Rectangle 4"/>
          <p:cNvSpPr/>
          <p:nvPr/>
        </p:nvSpPr>
        <p:spPr>
          <a:xfrm>
            <a:off x="5897880" y="1325880"/>
            <a:ext cx="5486040" cy="443448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ce8f0"/>
                </a:solidFill>
                <a:latin typeface="Consolas"/>
              </a:rPr>
              <a:t>add-rack rackno 1 racktype IEC19</a:t>
            </a:r>
            <a:endParaRPr b="0" lang="es-A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ce8f0"/>
                </a:solidFill>
                <a:latin typeface="Consolas"/>
              </a:rPr>
              <a:t>add-shelf rackno 1 shelfno 1 shelftype IEC_SHELF</a:t>
            </a:r>
            <a:endParaRPr b="0" lang="es-A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ce8f0"/>
                </a:solidFill>
                <a:latin typeface="Consolas"/>
              </a:rPr>
              <a:t>add-card ... slotno 0  PRWH</a:t>
            </a:r>
            <a:endParaRPr b="0" lang="es-A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ce8f0"/>
                </a:solidFill>
                <a:latin typeface="Consolas"/>
              </a:rPr>
              <a:t>add-card ... slotno 1  PRWH</a:t>
            </a:r>
            <a:endParaRPr b="0" lang="es-A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ce8f0"/>
                </a:solidFill>
                <a:latin typeface="Consolas"/>
              </a:rPr>
              <a:t>add-card ... slotno 13 GTGH</a:t>
            </a:r>
            <a:endParaRPr b="0" lang="es-A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ce8f0"/>
                </a:solidFill>
                <a:latin typeface="Consolas"/>
              </a:rPr>
              <a:t>add-card ... slotno 14 GTGH</a:t>
            </a:r>
            <a:endParaRPr b="0" lang="es-A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ce8f0"/>
                </a:solidFill>
                <a:latin typeface="Consolas"/>
              </a:rPr>
              <a:t>add-card ... slotno 15 GTGH</a:t>
            </a:r>
            <a:endParaRPr b="0" lang="es-A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ce8f0"/>
                </a:solidFill>
                <a:latin typeface="Consolas"/>
              </a:rPr>
              <a:t>add-card ... slotno 16 GTGO</a:t>
            </a:r>
            <a:endParaRPr b="0" lang="es-A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ce8f0"/>
                </a:solidFill>
                <a:latin typeface="Consolas"/>
              </a:rPr>
              <a:t>add-card ... slotno 17 GTGO</a:t>
            </a:r>
            <a:endParaRPr b="0" lang="es-A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ce8f0"/>
                </a:solidFill>
                <a:latin typeface="Consolas"/>
              </a:rPr>
              <a:t>add-card ... slotno 19 HUVQ</a:t>
            </a:r>
            <a:endParaRPr b="0" lang="es-AR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ce8f0"/>
                </a:solidFill>
                <a:latin typeface="Consolas"/>
              </a:rPr>
              <a:t>add-card ... slotno 20 HUVQ</a:t>
            </a:r>
            <a:endParaRPr b="0" lang="es-A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5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1772280" y="320040"/>
            <a:ext cx="8616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5. Fase 2 — Parámetros globales y operación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2314800" y="932760"/>
            <a:ext cx="740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Se ajustan temporizadores, tabla MAC, tamaño de trama, ventilación y funciones automáticas.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685800" y="1417320"/>
            <a:ext cx="6400440" cy="26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TCP: finwait 600 s, queue max 5, synwait 30 s y ventana 2144.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MAC: aging 300 s, monitorización cada 10 s y umbral de uso 70%.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Frame length Ethernet: 1600 bytes.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Ventilación: umbrales térmicos y control de velocidad definidos para rack 1 / shelf 1.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Se desactivan auto-update de backup y activate según el documento.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7406640" y="1554480"/>
            <a:ext cx="3657240" cy="15541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Lectura técnica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Son parámetros de operación del equipo: no crean servicios de cliente, pero ayudan a definir cómo se comporta la plataforma.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5"/>
          <p:cNvSpPr/>
          <p:nvPr/>
        </p:nvSpPr>
        <p:spPr>
          <a:xfrm>
            <a:off x="7406640" y="3474720"/>
            <a:ext cx="3657240" cy="15541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Secuencia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Primero hardware y sistema; después redes y servicios. Así se evita configurar interfaces sobre recursos que aún no fueron declarados.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6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2071800" y="320040"/>
            <a:ext cx="80175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6. Fase 3 — VLAN y gestión OOB / In-Band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2950920" y="932760"/>
            <a:ext cx="6130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Se crean las VLAN necesarias y se levantan las dos formas de administración.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ounded Rectangle 3"/>
          <p:cNvSpPr/>
          <p:nvPr/>
        </p:nvSpPr>
        <p:spPr>
          <a:xfrm>
            <a:off x="685800" y="1417320"/>
            <a:ext cx="5120280" cy="384012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vlan-reserve 4091 out-voip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vlan-reserve 4092 in-voip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vlan-reserve 4094 gpon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vlan database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vlan 1,200,400,1000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vlan 4091-4092,4094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6080760" y="1417320"/>
            <a:ext cx="5394600" cy="384012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interface mng1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ip vrf forwarding vpn_mng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ip address 10.0.10.100 255.255.255.0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negotiation auto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tag-mode untag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interface vlan 200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ip address 10.1.1.1 255.255.255.0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ounded Rectangle 5"/>
          <p:cNvSpPr/>
          <p:nvPr/>
        </p:nvSpPr>
        <p:spPr>
          <a:xfrm>
            <a:off x="822960" y="5440680"/>
            <a:ext cx="10560960" cy="6397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Concepto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OOB usa el puerto físico mng1. In-Band usa la SVI VLAN 200 y comparte la infraestructura de transporte.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7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"/>
          <p:cNvSpPr/>
          <p:nvPr/>
        </p:nvSpPr>
        <p:spPr>
          <a:xfrm>
            <a:off x="2946600" y="320040"/>
            <a:ext cx="62679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7. Fase 4 — Uplinks y transporte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3384000" y="932760"/>
            <a:ext cx="5265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Los uplinks son el puente entre la OLT y la red de agregación/core.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685800" y="1417320"/>
            <a:ext cx="6034680" cy="232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Uplink principal: xgei_1/19/1, fibra, 10 Gbps, full duplex.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Se configura como trunk y etiqueta VLAN 1.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Segundo uplink: gei_1/19/3, fibra, negociación automática.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El segundo trunk transporta VLAN 1 y VLAN 200 etiquetadas.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Ambos quedan con linktrap habilitado, flowcontrol deshabilitado y port-protect/uplink-isolate deshabilitados según el documento.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ounded Rectangle 4"/>
          <p:cNvSpPr/>
          <p:nvPr/>
        </p:nvSpPr>
        <p:spPr>
          <a:xfrm>
            <a:off x="6995160" y="1417320"/>
            <a:ext cx="4571640" cy="425160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interface xgei_1/19/1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no shutdown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speed 10000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duplex full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switchport mode trunk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switchport vlan 1 tag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interface gei_1/19/3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no shutdown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negotiation auto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switchport mode trunk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dce8f0"/>
                </a:solidFill>
                <a:latin typeface="Consolas"/>
              </a:rPr>
              <a:t>switchport vlan 1,200 tag</a:t>
            </a:r>
            <a:endParaRPr b="0" lang="es-A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8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2460240" y="320040"/>
            <a:ext cx="7240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8. Fase 5 — Perfil DBA y tipos de ONU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2210400" y="932760"/>
            <a:ext cx="761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Antes de dar servicio, se define cómo se representa el tráfico y qué modelos de ONU se aceptan.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3"/>
          <p:cNvSpPr/>
          <p:nvPr/>
        </p:nvSpPr>
        <p:spPr>
          <a:xfrm>
            <a:off x="731520" y="1417320"/>
            <a:ext cx="10698120" cy="77688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ce8f0"/>
                </a:solidFill>
                <a:latin typeface="Consolas"/>
              </a:rPr>
              <a:t>gpon profile tcont INTERNET type 4 maximum 1024000</a:t>
            </a:r>
            <a:endParaRPr b="0" lang="es-A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777240" y="2514600"/>
            <a:ext cx="10423800" cy="13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ZTEG-F670 → 4 GE + 2 POTS; hasta 7 T-CONT y 32 GEM ports.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generic-F601 → 1 GE; hasta 8 T-CONT y 32 GEM ports.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generic-F670 → 4 GE + 2 POTS + Wi‑Fi; hasta 8 T-CONT y 32 GEM ports.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Se declaran las interfaces Ethernet disponibles por modelo.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ounded Rectangle 5"/>
          <p:cNvSpPr/>
          <p:nvPr/>
        </p:nvSpPr>
        <p:spPr>
          <a:xfrm>
            <a:off x="777240" y="5166360"/>
            <a:ext cx="10423800" cy="73116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Interpretación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El perfil T-CONT define el recurso de ancho de banda de subida; el tipo de ONU define las capacidades que la OLT puede aprovisionar.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9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2976840" y="320040"/>
            <a:ext cx="62071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9. Fase 6 — Alta de ONU: caso 1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3885840" y="932760"/>
            <a:ext cx="4260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Ejemplo de registro básico en el puerto GPON 1/13/1.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3"/>
          <p:cNvSpPr/>
          <p:nvPr/>
        </p:nvSpPr>
        <p:spPr>
          <a:xfrm>
            <a:off x="777240" y="1417320"/>
            <a:ext cx="6400440" cy="352008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ce8f0"/>
                </a:solidFill>
                <a:latin typeface="Consolas"/>
              </a:rPr>
              <a:t>interface gpon-olt_1/13/1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dce8f0"/>
                </a:solidFill>
                <a:latin typeface="Consolas"/>
              </a:rPr>
              <a:t>no shutdown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dce8f0"/>
                </a:solidFill>
                <a:latin typeface="Consolas"/>
              </a:rPr>
              <a:t>linktrap disable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dce8f0"/>
                </a:solidFill>
                <a:latin typeface="Consolas"/>
              </a:rPr>
              <a:t>onu 1 type generic-F601 sn RTEGCA01096C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dce8f0"/>
                </a:solidFill>
                <a:latin typeface="Consolas"/>
              </a:rPr>
              <a:t>exit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ce8f0"/>
                </a:solidFill>
                <a:latin typeface="Consolas"/>
              </a:rPr>
              <a:t>interface gpon-onu_1/13/1:1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dce8f0"/>
                </a:solidFill>
                <a:latin typeface="Consolas"/>
              </a:rPr>
              <a:t>sn-bind enable sn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7543800" y="1508760"/>
            <a:ext cx="3748680" cy="22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Se habilita el puerto PON.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Se registra la ONU con su modelo y número de serie.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Se crea la interfaz lógica de la ONU.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Se vincula la ONU al número de serie para que la OLT identifique ese equipo.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ounded Rectangle 5"/>
          <p:cNvSpPr/>
          <p:nvPr/>
        </p:nvSpPr>
        <p:spPr>
          <a:xfrm>
            <a:off x="7543800" y="4846320"/>
            <a:ext cx="3748680" cy="8683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Resultado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La ONU queda registrada, pero este caso no muestra la cadena completa de servicio de Internet.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10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1511640" y="320040"/>
            <a:ext cx="91375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10. Fase 6 — Alta de ONU + servicio de Internet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2785680" y="932760"/>
            <a:ext cx="646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Este es el caso más completo y permite explicar la cadena de extremo a extremo.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ounded Rectangle 3"/>
          <p:cNvSpPr/>
          <p:nvPr/>
        </p:nvSpPr>
        <p:spPr>
          <a:xfrm>
            <a:off x="685800" y="1325880"/>
            <a:ext cx="6720480" cy="448020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interface gpon-olt_1/13/2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no shutdown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onu 1 type generic-F670 sn ZTEGC826D2E0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interface gpon-onu_1/13/2:1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sn-bind enable sn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tcont 1 profile INTERNET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gemport 1 tcont 1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switchport mode hybrid vport 1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service-port 1 vport 1 user-vlan 200 vlan 200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ounded Rectangle 4"/>
          <p:cNvSpPr/>
          <p:nvPr/>
        </p:nvSpPr>
        <p:spPr>
          <a:xfrm>
            <a:off x="7726680" y="1371600"/>
            <a:ext cx="3565800" cy="11426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Paso 1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T-CONT 1 toma el perfil INTERNET y representa el recurso de ancho de banda de upstream.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ounded Rectangle 5"/>
          <p:cNvSpPr/>
          <p:nvPr/>
        </p:nvSpPr>
        <p:spPr>
          <a:xfrm>
            <a:off x="7726680" y="2743200"/>
            <a:ext cx="3565800" cy="11426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Paso 2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GEMPORT 1 se asocia al T-CONT 1 y crea el canal lógico de transporte GPON.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ounded Rectangle 6"/>
          <p:cNvSpPr/>
          <p:nvPr/>
        </p:nvSpPr>
        <p:spPr>
          <a:xfrm>
            <a:off x="7726680" y="4114800"/>
            <a:ext cx="3565800" cy="11426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Paso 3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El service-port relaciona el vport con VLAN de usuario 200 y VLAN 200.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7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11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1878120" y="320040"/>
            <a:ext cx="84045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11. Fase 6 — Configuración OMCI de la ONU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2926800" y="932760"/>
            <a:ext cx="6179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Se termina de definir cómo el puerto Ethernet de la ONU entregará el servicio.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ounded Rectangle 3"/>
          <p:cNvSpPr/>
          <p:nvPr/>
        </p:nvSpPr>
        <p:spPr>
          <a:xfrm>
            <a:off x="822960" y="1508760"/>
            <a:ext cx="5943240" cy="205704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ce8f0"/>
                </a:solidFill>
                <a:latin typeface="Consolas"/>
              </a:rPr>
              <a:t>pon-onu-mng gpon-onu_1/13/2:1</a:t>
            </a:r>
            <a:endParaRPr b="0" lang="es-AR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dce8f0"/>
                </a:solidFill>
                <a:latin typeface="Consolas"/>
              </a:rPr>
              <a:t>service 1 gemport 1 vlan 200</a:t>
            </a:r>
            <a:endParaRPr b="0" lang="es-AR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dce8f0"/>
                </a:solidFill>
                <a:latin typeface="Consolas"/>
              </a:rPr>
              <a:t>vlan port eth_0/1 mode tag vlan 200</a:t>
            </a:r>
            <a:endParaRPr b="0" lang="es-A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7086600" y="1508760"/>
            <a:ext cx="4160160" cy="24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Se entra al contexto de gestión de la ONU.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El servicio 1 queda asociado al GEMPORT 1 y a VLAN 200.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El puerto Ethernet eth_0/1 se configura en modo tag con VLAN 200.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La cadena queda: cliente → eth_0/1 → VLAN 200 → GEMPORT → T-CONT → PON → uplink.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ounded Rectangle 5"/>
          <p:cNvSpPr/>
          <p:nvPr/>
        </p:nvSpPr>
        <p:spPr>
          <a:xfrm>
            <a:off x="822960" y="4069080"/>
            <a:ext cx="10423800" cy="11426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“</a:t>
            </a: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Hasta aquí no alcanza con registrar la ONU. También hay que construir el camino lógico del tráfico para que la OLT sepa por dónde entra, cómo lo transporta y por qué VLAN sale.”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6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12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2320200" y="320040"/>
            <a:ext cx="75207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12. Vista completa del flujo de servicio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3482280" y="932760"/>
            <a:ext cx="5068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La configuración puede entenderse como una cadena de capas.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ounded Rectangle 3"/>
          <p:cNvSpPr/>
          <p:nvPr/>
        </p:nvSpPr>
        <p:spPr>
          <a:xfrm>
            <a:off x="502920" y="2057400"/>
            <a:ext cx="1874160" cy="914040"/>
          </a:xfrm>
          <a:prstGeom prst="roundRect">
            <a:avLst>
              <a:gd name="adj" fmla="val 16667"/>
            </a:avLst>
          </a:prstGeom>
          <a:solidFill>
            <a:srgbClr val="e0ebf6"/>
          </a:solidFill>
          <a:ln>
            <a:solidFill>
              <a:srgbClr val="3c78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3750"/>
                </a:solidFill>
                <a:latin typeface="Calibri"/>
              </a:rPr>
              <a:t>Cliente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5564"/>
                </a:solidFill>
                <a:latin typeface="Calibri"/>
              </a:rPr>
              <a:t>PC / router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ounded Rectangle 4"/>
          <p:cNvSpPr/>
          <p:nvPr/>
        </p:nvSpPr>
        <p:spPr>
          <a:xfrm>
            <a:off x="2743200" y="2057400"/>
            <a:ext cx="1874160" cy="914040"/>
          </a:xfrm>
          <a:prstGeom prst="roundRect">
            <a:avLst>
              <a:gd name="adj" fmla="val 16667"/>
            </a:avLst>
          </a:prstGeom>
          <a:solidFill>
            <a:srgbClr val="e0ebf6"/>
          </a:solidFill>
          <a:ln>
            <a:solidFill>
              <a:srgbClr val="3c78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3750"/>
                </a:solidFill>
                <a:latin typeface="Calibri"/>
              </a:rPr>
              <a:t>ONU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5564"/>
                </a:solidFill>
                <a:latin typeface="Calibri"/>
              </a:rPr>
              <a:t>generic-F670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ounded Rectangle 5"/>
          <p:cNvSpPr/>
          <p:nvPr/>
        </p:nvSpPr>
        <p:spPr>
          <a:xfrm>
            <a:off x="4983480" y="2057400"/>
            <a:ext cx="1874160" cy="914040"/>
          </a:xfrm>
          <a:prstGeom prst="roundRect">
            <a:avLst>
              <a:gd name="adj" fmla="val 16667"/>
            </a:avLst>
          </a:prstGeom>
          <a:solidFill>
            <a:srgbClr val="e0ebf6"/>
          </a:solidFill>
          <a:ln>
            <a:solidFill>
              <a:srgbClr val="3c78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3750"/>
                </a:solidFill>
                <a:latin typeface="Calibri"/>
              </a:rPr>
              <a:t>PON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5564"/>
                </a:solidFill>
                <a:latin typeface="Calibri"/>
              </a:rPr>
              <a:t>1/13/2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6"/>
          <p:cNvSpPr/>
          <p:nvPr/>
        </p:nvSpPr>
        <p:spPr>
          <a:xfrm>
            <a:off x="7223760" y="2057400"/>
            <a:ext cx="1874160" cy="914040"/>
          </a:xfrm>
          <a:prstGeom prst="roundRect">
            <a:avLst>
              <a:gd name="adj" fmla="val 16667"/>
            </a:avLst>
          </a:prstGeom>
          <a:solidFill>
            <a:srgbClr val="e0ebf6"/>
          </a:solidFill>
          <a:ln>
            <a:solidFill>
              <a:srgbClr val="3c78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3750"/>
                </a:solidFill>
                <a:latin typeface="Calibri"/>
              </a:rPr>
              <a:t>Servicio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5564"/>
                </a:solidFill>
                <a:latin typeface="Calibri"/>
              </a:rPr>
              <a:t>GEM 1 / T-CONT 1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ounded Rectangle 7"/>
          <p:cNvSpPr/>
          <p:nvPr/>
        </p:nvSpPr>
        <p:spPr>
          <a:xfrm>
            <a:off x="9464040" y="2057400"/>
            <a:ext cx="1874160" cy="914040"/>
          </a:xfrm>
          <a:prstGeom prst="roundRect">
            <a:avLst>
              <a:gd name="adj" fmla="val 16667"/>
            </a:avLst>
          </a:prstGeom>
          <a:solidFill>
            <a:srgbClr val="e0ebf6"/>
          </a:solidFill>
          <a:ln>
            <a:solidFill>
              <a:srgbClr val="3c78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3750"/>
                </a:solidFill>
                <a:latin typeface="Calibri"/>
              </a:rPr>
              <a:t>VLAN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5564"/>
                </a:solidFill>
                <a:latin typeface="Calibri"/>
              </a:rPr>
              <a:t>200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ounded Rectangle 8"/>
          <p:cNvSpPr/>
          <p:nvPr/>
        </p:nvSpPr>
        <p:spPr>
          <a:xfrm>
            <a:off x="9464040" y="3977640"/>
            <a:ext cx="1874160" cy="914040"/>
          </a:xfrm>
          <a:prstGeom prst="roundRect">
            <a:avLst>
              <a:gd name="adj" fmla="val 16667"/>
            </a:avLst>
          </a:prstGeom>
          <a:solidFill>
            <a:srgbClr val="e0ebf6"/>
          </a:solidFill>
          <a:ln>
            <a:solidFill>
              <a:srgbClr val="3c78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e3750"/>
                </a:solidFill>
                <a:latin typeface="Calibri"/>
              </a:rPr>
              <a:t>Uplink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65564"/>
                </a:solidFill>
                <a:latin typeface="Calibri"/>
              </a:rPr>
              <a:t>1/19/3 o 1/19/1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2" name="Connector 9"/>
          <p:cNvCxnSpPr/>
          <p:nvPr/>
        </p:nvCxnSpPr>
        <p:spPr>
          <a:xfrm>
            <a:off x="2377440" y="2514600"/>
            <a:ext cx="366120" cy="360"/>
          </a:xfrm>
          <a:prstGeom prst="straightConnector1">
            <a:avLst/>
          </a:prstGeom>
          <a:ln w="31750">
            <a:solidFill>
              <a:srgbClr val="466987"/>
            </a:solidFill>
            <a:round/>
          </a:ln>
        </p:spPr>
      </p:cxnSp>
      <p:cxnSp>
        <p:nvCxnSpPr>
          <p:cNvPr id="153" name="Connector 10"/>
          <p:cNvCxnSpPr/>
          <p:nvPr/>
        </p:nvCxnSpPr>
        <p:spPr>
          <a:xfrm>
            <a:off x="4617720" y="2514600"/>
            <a:ext cx="366120" cy="360"/>
          </a:xfrm>
          <a:prstGeom prst="straightConnector1">
            <a:avLst/>
          </a:prstGeom>
          <a:ln w="31750">
            <a:solidFill>
              <a:srgbClr val="466987"/>
            </a:solidFill>
            <a:round/>
          </a:ln>
        </p:spPr>
      </p:cxnSp>
      <p:cxnSp>
        <p:nvCxnSpPr>
          <p:cNvPr id="154" name="Connector 11"/>
          <p:cNvCxnSpPr/>
          <p:nvPr/>
        </p:nvCxnSpPr>
        <p:spPr>
          <a:xfrm>
            <a:off x="6858000" y="2514600"/>
            <a:ext cx="366120" cy="360"/>
          </a:xfrm>
          <a:prstGeom prst="straightConnector1">
            <a:avLst/>
          </a:prstGeom>
          <a:ln w="31750">
            <a:solidFill>
              <a:srgbClr val="466987"/>
            </a:solidFill>
            <a:round/>
          </a:ln>
        </p:spPr>
      </p:cxnSp>
      <p:cxnSp>
        <p:nvCxnSpPr>
          <p:cNvPr id="155" name="Connector 12"/>
          <p:cNvCxnSpPr/>
          <p:nvPr/>
        </p:nvCxnSpPr>
        <p:spPr>
          <a:xfrm>
            <a:off x="9098280" y="2514600"/>
            <a:ext cx="366120" cy="360"/>
          </a:xfrm>
          <a:prstGeom prst="straightConnector1">
            <a:avLst/>
          </a:prstGeom>
          <a:ln w="31750">
            <a:solidFill>
              <a:srgbClr val="466987"/>
            </a:solidFill>
            <a:round/>
          </a:ln>
        </p:spPr>
      </p:cxnSp>
      <p:cxnSp>
        <p:nvCxnSpPr>
          <p:cNvPr id="156" name="Connector 13"/>
          <p:cNvCxnSpPr/>
          <p:nvPr/>
        </p:nvCxnSpPr>
        <p:spPr>
          <a:xfrm>
            <a:off x="10405800" y="2971800"/>
            <a:ext cx="360" cy="1005840"/>
          </a:xfrm>
          <a:prstGeom prst="straightConnector1">
            <a:avLst/>
          </a:prstGeom>
          <a:ln w="31750">
            <a:solidFill>
              <a:srgbClr val="466987"/>
            </a:solidFill>
            <a:round/>
          </a:ln>
        </p:spPr>
      </p:cxnSp>
      <p:sp>
        <p:nvSpPr>
          <p:cNvPr id="157" name="Rounded Rectangle 14"/>
          <p:cNvSpPr/>
          <p:nvPr/>
        </p:nvSpPr>
        <p:spPr>
          <a:xfrm>
            <a:off x="914400" y="5166360"/>
            <a:ext cx="10240920" cy="73116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Lectura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La VLAN 200 aparece en la gestión In-Band y en el servicio de la ONU. El uplink 1/19/3 está configurado explícitamente para transportar esa VLAN.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15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13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/>
          <p:nvPr/>
        </p:nvSpPr>
        <p:spPr>
          <a:xfrm>
            <a:off x="2305080" y="320040"/>
            <a:ext cx="7551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13. Fase 7 — Verificación y diagnóstico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2564640" y="932760"/>
            <a:ext cx="690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Después de configurar, hay que comprobar que el estado real coincide con lo esperado.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ounded Rectangle 3"/>
          <p:cNvSpPr/>
          <p:nvPr/>
        </p:nvSpPr>
        <p:spPr>
          <a:xfrm>
            <a:off x="731520" y="1417320"/>
            <a:ext cx="5851800" cy="438876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ce8f0"/>
                </a:solidFill>
                <a:latin typeface="Consolas"/>
              </a:rPr>
              <a:t>show card</a:t>
            </a:r>
            <a:endParaRPr b="0" lang="es-A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ce8f0"/>
                </a:solidFill>
                <a:latin typeface="Consolas"/>
              </a:rPr>
              <a:t>show environment status</a:t>
            </a:r>
            <a:endParaRPr b="0" lang="es-A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ce8f0"/>
                </a:solidFill>
                <a:latin typeface="Consolas"/>
              </a:rPr>
              <a:t>show interface xgei_1/19/1</a:t>
            </a:r>
            <a:endParaRPr b="0" lang="es-A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ce8f0"/>
                </a:solidFill>
                <a:latin typeface="Consolas"/>
              </a:rPr>
              <a:t>show interface gei_1/19/3</a:t>
            </a:r>
            <a:endParaRPr b="0" lang="es-A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ce8f0"/>
                </a:solidFill>
                <a:latin typeface="Consolas"/>
              </a:rPr>
              <a:t>show vlan brief</a:t>
            </a:r>
            <a:endParaRPr b="0" lang="es-A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ce8f0"/>
                </a:solidFill>
                <a:latin typeface="Consolas"/>
              </a:rPr>
              <a:t>show gpon onu state gpon-olt_1/13/2</a:t>
            </a:r>
            <a:endParaRPr b="0" lang="es-A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ce8f0"/>
                </a:solidFill>
                <a:latin typeface="Consolas"/>
              </a:rPr>
              <a:t>show gpon onu optical-power gpon-onu_1/13/2:1</a:t>
            </a:r>
            <a:endParaRPr b="0" lang="es-A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ce8f0"/>
                </a:solidFill>
                <a:latin typeface="Consolas"/>
              </a:rPr>
              <a:t>show gpon onu uncfg</a:t>
            </a:r>
            <a:endParaRPr b="0" lang="es-AR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ce8f0"/>
                </a:solidFill>
                <a:latin typeface="Consolas"/>
              </a:rPr>
              <a:t>write</a:t>
            </a:r>
            <a:endParaRPr b="0" lang="es-A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4"/>
          <p:cNvSpPr/>
          <p:nvPr/>
        </p:nvSpPr>
        <p:spPr>
          <a:xfrm>
            <a:off x="6995160" y="1417320"/>
            <a:ext cx="4297320" cy="27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Hardware: confirmar tarjetas y estado ambiental.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Red: revisar interfaces, trunks y VLAN.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GPON: comprobar estado de ONU y potencia óptica.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ONU no configurada: detectar equipos que aparecen en PON pero todavía no están aprovisionados.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2d3746"/>
                </a:solidFill>
                <a:latin typeface="Aptos"/>
              </a:rPr>
              <a:t>write: guardar los cambios en memoria flash.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5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14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2013840" y="320040"/>
            <a:ext cx="81334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14. Validación final — show running-config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2471040" y="932760"/>
            <a:ext cx="709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El documento incluye la configuración resultante y permite contrastarla con lo planificado.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ounded Rectangle 3"/>
          <p:cNvSpPr/>
          <p:nvPr/>
        </p:nvSpPr>
        <p:spPr>
          <a:xfrm>
            <a:off x="685800" y="1325880"/>
            <a:ext cx="6674760" cy="457164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ZXAN# sh run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Building configuration...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...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version V4.8.35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hostname ZXAN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...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interface mng1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ip address 10.0.10.100 255.255.255.0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...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interface vlan 200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ip address 10.1.1.1 255.255.255.0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...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interface gpon-olt_1/13/2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onu 1 type generic-F670 sn ZTEGC826D2E0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...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ce8f0"/>
                </a:solidFill>
                <a:latin typeface="Consolas"/>
              </a:rPr>
              <a:t>service-port 1 vport 1 user-vlan 200 vlan 200</a:t>
            </a:r>
            <a:endParaRPr b="0" lang="es-A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Rounded Rectangle 4"/>
          <p:cNvSpPr/>
          <p:nvPr/>
        </p:nvSpPr>
        <p:spPr>
          <a:xfrm>
            <a:off x="7726680" y="1554480"/>
            <a:ext cx="3565800" cy="13255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Qué buscar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Hostname, versión, tarjetas, VLAN, mng1, VLAN 200, ONU, T-CONT, GEMPORT, service-port y uplinks.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 5"/>
          <p:cNvSpPr/>
          <p:nvPr/>
        </p:nvSpPr>
        <p:spPr>
          <a:xfrm>
            <a:off x="7726680" y="3337560"/>
            <a:ext cx="3565800" cy="13255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Buena práctica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No basta con que el comando haya sido aceptado: hay que verificar el estado operativo y la configuración persistida.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15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-438840" y="320040"/>
            <a:ext cx="130392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15. Elementos de seguridad y gestión presentes en el running-config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3173400" y="932760"/>
            <a:ext cx="5685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El archivo final también muestra controles de acceso, SSH, logs y SNMP.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731520" y="1417320"/>
            <a:ext cx="6400440" cy="254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SSH server con versión 2 y autenticación local.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Líneas de consola y Telnet con idle-timeout y absolute-timeout.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Se registra logging de alarmas y comandos.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SNMPv3 aparece configurado con grupos y vistas.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FTP de escucha en puerto 21 aparece deshabilitado.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La configuración activa muestra service password-encryption.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ounded Rectangle 4"/>
          <p:cNvSpPr/>
          <p:nvPr/>
        </p:nvSpPr>
        <p:spPr>
          <a:xfrm>
            <a:off x="7452360" y="1645920"/>
            <a:ext cx="3657240" cy="141696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Alcance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Estos elementos forman parte del estado final mostrado por el documento; la presentación no agrega una política de seguridad externa.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5"/>
          <p:cNvSpPr/>
          <p:nvPr/>
        </p:nvSpPr>
        <p:spPr>
          <a:xfrm>
            <a:off x="7452360" y="3520440"/>
            <a:ext cx="3657240" cy="141696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be78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be782d"/>
                </a:solidFill>
                <a:latin typeface="Aptos"/>
              </a:rPr>
              <a:t>Cuidado con credenciales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Para documentación pública o académica, conviene ocultar contraseñas, secretos y datos de gestión que no sean necesarios.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16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878760" y="320040"/>
            <a:ext cx="104011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16. Secuencia recomendada para la puesta en marcha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3"/>
          <p:cNvSpPr/>
          <p:nvPr/>
        </p:nvSpPr>
        <p:spPr>
          <a:xfrm>
            <a:off x="594360" y="141732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278b9"/>
                </a:solidFill>
                <a:latin typeface="Calibri"/>
              </a:rPr>
              <a:t>01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e2d41"/>
                </a:solidFill>
                <a:latin typeface="Calibri"/>
              </a:rPr>
              <a:t>Acceso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05f6e"/>
                </a:solidFill>
                <a:latin typeface="Calibri"/>
              </a:rPr>
              <a:t>Consola / mng1</a:t>
            </a:r>
            <a:endParaRPr b="0" lang="es-A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ounded Rectangle 4"/>
          <p:cNvSpPr/>
          <p:nvPr/>
        </p:nvSpPr>
        <p:spPr>
          <a:xfrm>
            <a:off x="3429000" y="141732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278b9"/>
                </a:solidFill>
                <a:latin typeface="Calibri"/>
              </a:rPr>
              <a:t>02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e2d41"/>
                </a:solidFill>
                <a:latin typeface="Calibri"/>
              </a:rPr>
              <a:t>Administración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05f6e"/>
                </a:solidFill>
                <a:latin typeface="Calibri"/>
              </a:rPr>
              <a:t>Usuarios y privilegios</a:t>
            </a:r>
            <a:endParaRPr b="0" lang="es-A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5"/>
          <p:cNvSpPr/>
          <p:nvPr/>
        </p:nvSpPr>
        <p:spPr>
          <a:xfrm>
            <a:off x="6263640" y="141732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278b9"/>
                </a:solidFill>
                <a:latin typeface="Calibri"/>
              </a:rPr>
              <a:t>03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e2d41"/>
                </a:solidFill>
                <a:latin typeface="Calibri"/>
              </a:rPr>
              <a:t>Plataforma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05f6e"/>
                </a:solidFill>
                <a:latin typeface="Calibri"/>
              </a:rPr>
              <a:t>Rack, shelf y tarjetas</a:t>
            </a:r>
            <a:endParaRPr b="0" lang="es-A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ounded Rectangle 6"/>
          <p:cNvSpPr/>
          <p:nvPr/>
        </p:nvSpPr>
        <p:spPr>
          <a:xfrm>
            <a:off x="9098280" y="141732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278b9"/>
                </a:solidFill>
                <a:latin typeface="Calibri"/>
              </a:rPr>
              <a:t>04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e2d41"/>
                </a:solidFill>
                <a:latin typeface="Calibri"/>
              </a:rPr>
              <a:t>Red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05f6e"/>
                </a:solidFill>
                <a:latin typeface="Calibri"/>
              </a:rPr>
              <a:t>VLAN + interfaces de gestión</a:t>
            </a:r>
            <a:endParaRPr b="0" lang="es-A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ounded Rectangle 7"/>
          <p:cNvSpPr/>
          <p:nvPr/>
        </p:nvSpPr>
        <p:spPr>
          <a:xfrm>
            <a:off x="594360" y="356616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278b9"/>
                </a:solidFill>
                <a:latin typeface="Calibri"/>
              </a:rPr>
              <a:t>05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e2d41"/>
                </a:solidFill>
                <a:latin typeface="Calibri"/>
              </a:rPr>
              <a:t>Transporte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05f6e"/>
                </a:solidFill>
                <a:latin typeface="Calibri"/>
              </a:rPr>
              <a:t>Uplinks y trunks</a:t>
            </a:r>
            <a:endParaRPr b="0" lang="es-A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ounded Rectangle 8"/>
          <p:cNvSpPr/>
          <p:nvPr/>
        </p:nvSpPr>
        <p:spPr>
          <a:xfrm>
            <a:off x="3429000" y="356616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278b9"/>
                </a:solidFill>
                <a:latin typeface="Calibri"/>
              </a:rPr>
              <a:t>06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e2d41"/>
                </a:solidFill>
                <a:latin typeface="Calibri"/>
              </a:rPr>
              <a:t>GPON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05f6e"/>
                </a:solidFill>
                <a:latin typeface="Calibri"/>
              </a:rPr>
              <a:t>DBA + tipos de ONU</a:t>
            </a:r>
            <a:endParaRPr b="0" lang="es-A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9"/>
          <p:cNvSpPr/>
          <p:nvPr/>
        </p:nvSpPr>
        <p:spPr>
          <a:xfrm>
            <a:off x="6263640" y="356616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278b9"/>
                </a:solidFill>
                <a:latin typeface="Calibri"/>
              </a:rPr>
              <a:t>07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e2d41"/>
                </a:solidFill>
                <a:latin typeface="Calibri"/>
              </a:rPr>
              <a:t>Cliente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05f6e"/>
                </a:solidFill>
                <a:latin typeface="Calibri"/>
              </a:rPr>
              <a:t>Registro + service-port + OMCI</a:t>
            </a:r>
            <a:endParaRPr b="0" lang="es-A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10"/>
          <p:cNvSpPr/>
          <p:nvPr/>
        </p:nvSpPr>
        <p:spPr>
          <a:xfrm>
            <a:off x="9098280" y="356616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278b9"/>
                </a:solidFill>
                <a:latin typeface="Calibri"/>
              </a:rPr>
              <a:t>08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e2d41"/>
                </a:solidFill>
                <a:latin typeface="Calibri"/>
              </a:rPr>
              <a:t>Validación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05f6e"/>
                </a:solidFill>
                <a:latin typeface="Calibri"/>
              </a:rPr>
              <a:t>show + diagnóstico + write</a:t>
            </a:r>
            <a:endParaRPr b="0" lang="es-A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11"/>
          <p:cNvSpPr/>
          <p:nvPr/>
        </p:nvSpPr>
        <p:spPr>
          <a:xfrm>
            <a:off x="731520" y="5715000"/>
            <a:ext cx="10515240" cy="59400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Regla práctica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Si una fase depende de la anterior, se valida antes de continuar. Por ejemplo: primero VLAN/uplink, después service-port; primero ONU registrada, después servicio.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12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17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1"/>
          <p:cNvSpPr/>
          <p:nvPr/>
        </p:nvSpPr>
        <p:spPr>
          <a:xfrm>
            <a:off x="2033640" y="320040"/>
            <a:ext cx="80935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17. Cierre — qué debería quedar operativo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1790640" y="932760"/>
            <a:ext cx="845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La configuración documentada termina con una OLT preparada para gestión y un ejemplo de servicio GPON.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3"/>
          <p:cNvSpPr/>
          <p:nvPr/>
        </p:nvSpPr>
        <p:spPr>
          <a:xfrm>
            <a:off x="731520" y="1417320"/>
            <a:ext cx="10606680" cy="25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Acceso administrativo local y remoto definido.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Chasis y tarjetas declarados según la topología del documento.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Gestión OOB en 10.0.10.100/24 e In-Band en VLAN 200 con 10.1.1.1/24.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Uplinks configurados como trunks; el uplink gei_1/19/3 transporta VLAN 1 y 200.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Perfiles GPON y modelos de ONU definidos.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ONU generic-F670 registrada en 1/13/2 con T-CONT, GEMPORT, service-port y OMCI.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2d3746"/>
                </a:solidFill>
                <a:latin typeface="Aptos"/>
              </a:rPr>
              <a:t>Diagnóstico y guardado mediante comandos show y write.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ounded Rectangle 4"/>
          <p:cNvSpPr/>
          <p:nvPr/>
        </p:nvSpPr>
        <p:spPr>
          <a:xfrm>
            <a:off x="731520" y="5440680"/>
            <a:ext cx="10606680" cy="6854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Mensaje final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La lógica es: acceso → plataforma → red → transporte → GPON → cliente → validación. Esa secuencia hace que la configuración sea más fácil de entender, ejecutar y diagnosticar.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5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18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521280" y="320040"/>
            <a:ext cx="111297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192332"/>
                </a:solidFill>
                <a:latin typeface="Aptos Display"/>
              </a:rPr>
              <a:t>Anexo — Guia paso a paso para la configuracion de la OLT</a:t>
            </a:r>
            <a:endParaRPr b="0" lang="es-A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5897160" y="932760"/>
            <a:ext cx="229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6978"/>
                </a:solidFill>
                <a:latin typeface="Aptos"/>
              </a:rPr>
              <a:t>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731520" y="1417320"/>
            <a:ext cx="10515240" cy="31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“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Primero necesito entrar a la OLT y asegurar la administración.”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“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Después declaro el hardware para que el equipo conozca qué placas tiene instaladas.”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“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Con la plataforma lista, creo las VLAN y separo la gestión OOB de la gestión In-Band.”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“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Luego preparo los uplinks como trunks, porque por ahí va a salir el tráfico hacia la red superior.”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“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En GPON, primero defino el perfil de ancho de banda y los tipos de ONU; recién después registro al cliente.”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“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Para el servicio completo, encadeno T-CONT, GEMPORT, vport, service-port y la configuración del puerto Ethernet de la ONU.”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• “</a:t>
            </a:r>
            <a:r>
              <a:rPr b="0" lang="en-US" sz="1600" spc="-1" strike="noStrike">
                <a:solidFill>
                  <a:srgbClr val="2d3746"/>
                </a:solidFill>
                <a:latin typeface="Aptos"/>
              </a:rPr>
              <a:t>Finalmente no doy por terminada la tarea hasta comprobar estado, óptica, VLAN, interfaces y guardar la configuración.”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4"/>
          <p:cNvSpPr/>
          <p:nvPr/>
        </p:nvSpPr>
        <p:spPr>
          <a:xfrm>
            <a:off x="731520" y="5532120"/>
            <a:ext cx="10515240" cy="6397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d73be"/>
                </a:solidFill>
                <a:latin typeface="Aptos"/>
              </a:rPr>
              <a:t>Fuente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7414e"/>
                </a:solidFill>
                <a:latin typeface="Aptos"/>
              </a:rPr>
              <a:t>Contenido basado exclusivamente en el documento proporcionado: documentación técnica de configuración y despliegue de ZTE ZXA10 C300, firmware V4.8.35, hostname ZXAN.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737d8c"/>
                </a:solidFill>
                <a:latin typeface="Calibri"/>
              </a:rPr>
              <a:t>19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es-AR</dc:language>
  <cp:lastModifiedBy/>
  <dcterms:modified xsi:type="dcterms:W3CDTF">2026-08-15T13:14:24Z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