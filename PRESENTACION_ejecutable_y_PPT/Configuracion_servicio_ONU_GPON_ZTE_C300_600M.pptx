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1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D4AE06-EB52-43DF-ADBF-96809EDC3C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F19C9A-88A8-4351-8003-DAF2217A040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E5F7C44-1E07-4FE2-BA1D-55D03F2C51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8F42CD1-55FD-43DC-96D5-A15FAE2104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C046693-CAD2-486D-A7EB-A088AB25BB1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971C54FC-8275-4C56-9AAD-872203CBAEA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7852FE8A-B16A-4291-ACDE-BB5CB24484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181722B-26D1-4C43-81BA-4D8F0695F6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A1D00967-A524-450C-BFA5-7E456D8841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B9E08CEB-B8CE-4C20-AA1F-CD1C69315F6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49C85399-93BD-4442-9BBC-CF90ECB55F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s-A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67AD55-E163-430C-BDFB-81EFD95333B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B78ACA3-3D70-450E-84F2-E7F9D839B1D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581B8E-8502-408E-8289-F917472714B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172A0F-CE8E-40C6-B51C-0851CA43810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BCA9C4-5142-4D94-958F-F7F50C152E2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CF3FAB-11C2-44E5-AEFE-3E6F26B9F9D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24BFB70-1C10-4519-9230-2F3768B44E3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A552555-58EA-4C1D-900C-FD341EAA154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788D10-0132-4F8B-9089-3AFCB59325E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Pulse para editar el formato del texto de título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808D41E-DD7E-4CBE-86D4-2C9E6E1900E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Pulse para editar el formato de texto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Segundo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Tercer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Cuarto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Quinto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Sexto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Séptimo nivel del esquema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s-A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s-AR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A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0106A05-6FDE-43A6-BF48-B5453DDA9BC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es-A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23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2552400" y="1325880"/>
            <a:ext cx="7147440" cy="108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pc="-1" strike="noStrike">
                <a:solidFill>
                  <a:srgbClr val="ffffff"/>
                </a:solidFill>
                <a:latin typeface="Calibri"/>
              </a:rPr>
              <a:t>Configuración de una ONU GPON</a:t>
            </a:r>
            <a:endParaRPr b="0" lang="es-AR" sz="4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500" spc="-1" strike="noStrike">
                <a:solidFill>
                  <a:srgbClr val="b9d7f0"/>
                </a:solidFill>
                <a:latin typeface="Calibri"/>
              </a:rPr>
              <a:t>ZTE ZXA10 C300 + ONU ZTE F670L</a:t>
            </a:r>
            <a:endParaRPr b="0" lang="es-AR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2220480" y="3749040"/>
            <a:ext cx="717156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alibri"/>
              </a:rPr>
              <a:t>Alta de ONU • Perfil de velocidad • GEMPORT • VLAN 200 • WAN DHCP</a:t>
            </a:r>
            <a:endParaRPr b="0" lang="es-A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1032920" y="644652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1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2"/>
          <p:cNvSpPr/>
          <p:nvPr/>
        </p:nvSpPr>
        <p:spPr>
          <a:xfrm>
            <a:off x="3749040" y="320040"/>
            <a:ext cx="4663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42337"/>
                </a:solidFill>
                <a:latin typeface="Calibri"/>
              </a:rPr>
              <a:t>1. Objetivo de la configuración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3"/>
          <p:cNvSpPr/>
          <p:nvPr/>
        </p:nvSpPr>
        <p:spPr>
          <a:xfrm>
            <a:off x="822960" y="1371600"/>
            <a:ext cx="10515240" cy="27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100" spc="-1" strike="noStrike">
                <a:solidFill>
                  <a:srgbClr val="232d37"/>
                </a:solidFill>
                <a:latin typeface="Calibri"/>
              </a:rPr>
              <a:t>Dar de alta una ONU GPON mediante su Serial Number.</a:t>
            </a:r>
            <a:endParaRPr b="0" lang="es-AR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100" spc="-1" strike="noStrike">
                <a:solidFill>
                  <a:srgbClr val="232d37"/>
                </a:solidFill>
                <a:latin typeface="Calibri"/>
              </a:rPr>
              <a:t>Asignarle un plan de Internet de 600 Mbps.</a:t>
            </a:r>
            <a:endParaRPr b="0" lang="es-AR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100" spc="-1" strike="noStrike">
                <a:solidFill>
                  <a:srgbClr val="232d37"/>
                </a:solidFill>
                <a:latin typeface="Calibri"/>
              </a:rPr>
              <a:t>Transportar el servicio de Internet mediante la VLAN 200.</a:t>
            </a:r>
            <a:endParaRPr b="0" lang="es-AR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100" spc="-1" strike="noStrike">
                <a:solidFill>
                  <a:srgbClr val="232d37"/>
                </a:solidFill>
                <a:latin typeface="Calibri"/>
              </a:rPr>
              <a:t>Configurar el GEMPORT y asociarlo al T-CONT.</a:t>
            </a:r>
            <a:endParaRPr b="0" lang="es-AR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100" spc="-1" strike="noStrike">
                <a:solidFill>
                  <a:srgbClr val="232d37"/>
                </a:solidFill>
                <a:latin typeface="Calibri"/>
              </a:rPr>
              <a:t>Configurar el lado ONU para recibir la WAN por DHCP.</a:t>
            </a:r>
            <a:endParaRPr b="0" lang="es-AR" sz="2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100" spc="-1" strike="noStrike">
                <a:solidFill>
                  <a:srgbClr val="232d37"/>
                </a:solidFill>
                <a:latin typeface="Calibri"/>
              </a:rPr>
              <a:t>Finalizar verificando el estado de la ONU.</a:t>
            </a:r>
            <a:endParaRPr b="0" lang="es-A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11032920" y="644652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2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4295160" y="320040"/>
            <a:ext cx="3570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42337"/>
                </a:solidFill>
                <a:latin typeface="Calibri"/>
              </a:rPr>
              <a:t>2. Perfiles de velocidad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3785400" y="960120"/>
            <a:ext cx="4461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2869aa"/>
                </a:solidFill>
                <a:latin typeface="Calibri"/>
              </a:rPr>
              <a:t>Los perfiles del archivo definen límites para distintos planes</a:t>
            </a:r>
            <a:endParaRPr b="0" lang="es-A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ounded Rectangle 4"/>
          <p:cNvSpPr/>
          <p:nvPr/>
        </p:nvSpPr>
        <p:spPr>
          <a:xfrm>
            <a:off x="731520" y="1325880"/>
            <a:ext cx="10698120" cy="448020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28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3054240" y="1508760"/>
            <a:ext cx="6053040" cy="31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profile tcont plan-100m type 4 maximum 102400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profile traffic DOWN-100M sir 102400 pir 102400</a:t>
            </a:r>
            <a:br>
              <a:rPr sz="1800"/>
            </a:b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profile tcont plan-300m type 4 maximum 307200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profile traffic DOWN-300M sir 307200 pir 307200</a:t>
            </a:r>
            <a:br>
              <a:rPr sz="1800"/>
            </a:b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profile tcont plan-600m type 4 maximum 614400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profile traffic DOWN-600M sir 614400 pir 614400</a:t>
            </a:r>
            <a:br>
              <a:rPr sz="1800"/>
            </a:b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profile tcont plan-1g type 4 maximum 1024000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profile traffic DOWN-1G sir 1024000 pir 1024000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11032920" y="644652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3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2"/>
          <p:cNvSpPr/>
          <p:nvPr/>
        </p:nvSpPr>
        <p:spPr>
          <a:xfrm>
            <a:off x="3063240" y="320040"/>
            <a:ext cx="6034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42337"/>
                </a:solidFill>
                <a:latin typeface="Calibri"/>
              </a:rPr>
              <a:t>3. ¿Qué se utiliza para el plan de 600M?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ounded Rectangle 3"/>
          <p:cNvSpPr/>
          <p:nvPr/>
        </p:nvSpPr>
        <p:spPr>
          <a:xfrm>
            <a:off x="731520" y="1828800"/>
            <a:ext cx="2925720" cy="182844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>
            <a:solidFill>
              <a:srgbClr val="28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4"/>
          <p:cNvSpPr/>
          <p:nvPr/>
        </p:nvSpPr>
        <p:spPr>
          <a:xfrm>
            <a:off x="1267200" y="2057400"/>
            <a:ext cx="1854360" cy="9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142337"/>
                </a:solidFill>
                <a:latin typeface="Calibri"/>
              </a:rPr>
              <a:t>T-CONT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32d37"/>
                </a:solidFill>
                <a:latin typeface="Calibri"/>
              </a:rPr>
              <a:t>plan-600m</a:t>
            </a:r>
            <a:br>
              <a:rPr sz="1800"/>
            </a:br>
            <a:r>
              <a:rPr b="0" lang="en-US" sz="1800" spc="-1" strike="noStrike">
                <a:solidFill>
                  <a:srgbClr val="232d37"/>
                </a:solidFill>
                <a:latin typeface="Calibri"/>
              </a:rPr>
              <a:t>maximum 614400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ounded Rectangle 5"/>
          <p:cNvSpPr/>
          <p:nvPr/>
        </p:nvSpPr>
        <p:spPr>
          <a:xfrm>
            <a:off x="4160520" y="1828800"/>
            <a:ext cx="2925720" cy="182844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>
            <a:solidFill>
              <a:srgbClr val="28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6"/>
          <p:cNvSpPr/>
          <p:nvPr/>
        </p:nvSpPr>
        <p:spPr>
          <a:xfrm>
            <a:off x="4771440" y="2057400"/>
            <a:ext cx="1703520" cy="9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142337"/>
                </a:solidFill>
                <a:latin typeface="Calibri"/>
              </a:rPr>
              <a:t>Traffic Profile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32d37"/>
                </a:solidFill>
                <a:latin typeface="Calibri"/>
              </a:rPr>
              <a:t>DOWN-600M</a:t>
            </a:r>
            <a:br>
              <a:rPr sz="1800"/>
            </a:br>
            <a:r>
              <a:rPr b="0" lang="en-US" sz="1800" spc="-1" strike="noStrike">
                <a:solidFill>
                  <a:srgbClr val="232d37"/>
                </a:solidFill>
                <a:latin typeface="Calibri"/>
              </a:rPr>
              <a:t>SIR/PIR 614400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ounded Rectangle 7"/>
          <p:cNvSpPr/>
          <p:nvPr/>
        </p:nvSpPr>
        <p:spPr>
          <a:xfrm>
            <a:off x="7589520" y="1828800"/>
            <a:ext cx="2925720" cy="182844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>
            <a:solidFill>
              <a:srgbClr val="28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TextBox 8"/>
          <p:cNvSpPr/>
          <p:nvPr/>
        </p:nvSpPr>
        <p:spPr>
          <a:xfrm>
            <a:off x="8385840" y="2057400"/>
            <a:ext cx="1333080" cy="97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142337"/>
                </a:solidFill>
                <a:latin typeface="Calibri"/>
              </a:rPr>
              <a:t>Resultado</a:t>
            </a:r>
            <a:endParaRPr b="0" lang="es-AR" sz="2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232d37"/>
                </a:solidFill>
                <a:latin typeface="Calibri"/>
              </a:rPr>
              <a:t>Límite de</a:t>
            </a:r>
            <a:br>
              <a:rPr sz="1800"/>
            </a:br>
            <a:r>
              <a:rPr b="0" lang="en-US" sz="1800" spc="-1" strike="noStrike">
                <a:solidFill>
                  <a:srgbClr val="232d37"/>
                </a:solidFill>
                <a:latin typeface="Calibri"/>
              </a:rPr>
              <a:t>600 Mbps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ight Arrow 9"/>
          <p:cNvSpPr/>
          <p:nvPr/>
        </p:nvSpPr>
        <p:spPr>
          <a:xfrm>
            <a:off x="3657600" y="2423160"/>
            <a:ext cx="411120" cy="502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9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Right Arrow 10"/>
          <p:cNvSpPr/>
          <p:nvPr/>
        </p:nvSpPr>
        <p:spPr>
          <a:xfrm>
            <a:off x="7086600" y="2423160"/>
            <a:ext cx="411120" cy="5025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9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11"/>
          <p:cNvSpPr/>
          <p:nvPr/>
        </p:nvSpPr>
        <p:spPr>
          <a:xfrm>
            <a:off x="1818720" y="4251960"/>
            <a:ext cx="84319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232d37"/>
                </a:solidFill>
                <a:latin typeface="Calibri"/>
              </a:rPr>
              <a:t>El archivo asigna al plan de 600M un T-CONT y un perfil de tráfico DOWN-600M.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12"/>
          <p:cNvSpPr/>
          <p:nvPr/>
        </p:nvSpPr>
        <p:spPr>
          <a:xfrm>
            <a:off x="11032920" y="644652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4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4059000" y="320040"/>
            <a:ext cx="4042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42337"/>
                </a:solidFill>
                <a:latin typeface="Calibri"/>
              </a:rPr>
              <a:t>4. Limpiar la ONU anterior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ounded Rectangle 3"/>
          <p:cNvSpPr/>
          <p:nvPr/>
        </p:nvSpPr>
        <p:spPr>
          <a:xfrm>
            <a:off x="914400" y="1645920"/>
            <a:ext cx="10240920" cy="228564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28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4286880" y="1828800"/>
            <a:ext cx="3495960" cy="124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ffffff"/>
                </a:solidFill>
                <a:latin typeface="Consolas"/>
              </a:rPr>
              <a:t>conf t</a:t>
            </a:r>
            <a:br>
              <a:rPr sz="1900"/>
            </a:br>
            <a:r>
              <a:rPr b="0" lang="en-US" sz="1900" spc="-1" strike="noStrike">
                <a:solidFill>
                  <a:srgbClr val="ffffff"/>
                </a:solidFill>
                <a:latin typeface="Consolas"/>
              </a:rPr>
              <a:t>interface gpon-olt_1/13/4</a:t>
            </a:r>
            <a:br>
              <a:rPr sz="1900"/>
            </a:br>
            <a:r>
              <a:rPr b="0" lang="en-US" sz="1900" spc="-1" strike="noStrike">
                <a:solidFill>
                  <a:srgbClr val="ffffff"/>
                </a:solidFill>
                <a:latin typeface="Consolas"/>
              </a:rPr>
              <a:t>  no onu 1</a:t>
            </a:r>
            <a:br>
              <a:rPr sz="1900"/>
            </a:br>
            <a:r>
              <a:rPr b="0" lang="en-US" sz="1900" spc="-1" strike="noStrike">
                <a:solidFill>
                  <a:srgbClr val="ffffff"/>
                </a:solidFill>
                <a:latin typeface="Consolas"/>
              </a:rPr>
              <a:t>exit</a:t>
            </a:r>
            <a:endParaRPr b="0" lang="es-A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5"/>
          <p:cNvSpPr/>
          <p:nvPr/>
        </p:nvSpPr>
        <p:spPr>
          <a:xfrm>
            <a:off x="914400" y="4251960"/>
            <a:ext cx="10515240" cy="7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232d37"/>
                </a:solidFill>
                <a:latin typeface="Calibri"/>
              </a:rPr>
              <a:t>Se elimina la ONU 1 que estaba registrada con un Serial Number incorrecto.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232d37"/>
                </a:solidFill>
                <a:latin typeface="Calibri"/>
              </a:rPr>
              <a:t>Esto permite volver a dar de alta la ONU real con el SN correcto.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Box 6"/>
          <p:cNvSpPr/>
          <p:nvPr/>
        </p:nvSpPr>
        <p:spPr>
          <a:xfrm>
            <a:off x="11032920" y="644652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5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3324600" y="320040"/>
            <a:ext cx="5511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42337"/>
                </a:solidFill>
                <a:latin typeface="Calibri"/>
              </a:rPr>
              <a:t>5. Alta de la ONU con Serial Number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ounded Rectangle 3"/>
          <p:cNvSpPr/>
          <p:nvPr/>
        </p:nvSpPr>
        <p:spPr>
          <a:xfrm>
            <a:off x="822960" y="1554480"/>
            <a:ext cx="10515240" cy="246852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28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3428280" y="1737360"/>
            <a:ext cx="530460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conf t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interface gpon-olt_1/13/4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  onu 1 type generic-F670 sn ZTEGC826D7E0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exit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5"/>
          <p:cNvSpPr/>
          <p:nvPr/>
        </p:nvSpPr>
        <p:spPr>
          <a:xfrm>
            <a:off x="914400" y="4297680"/>
            <a:ext cx="10515240" cy="15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pc="-1" strike="noStrike">
                <a:solidFill>
                  <a:srgbClr val="232d37"/>
                </a:solidFill>
                <a:latin typeface="Calibri"/>
              </a:rPr>
              <a:t>Puerto PON: gpon-olt_1/13/4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pc="-1" strike="noStrike">
                <a:solidFill>
                  <a:srgbClr val="232d37"/>
                </a:solidFill>
                <a:latin typeface="Calibri"/>
              </a:rPr>
              <a:t>ONU: número 1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pc="-1" strike="noStrike">
                <a:solidFill>
                  <a:srgbClr val="232d37"/>
                </a:solidFill>
                <a:latin typeface="Calibri"/>
              </a:rPr>
              <a:t>Tipo: generic-F670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pc="-1" strike="noStrike">
                <a:solidFill>
                  <a:srgbClr val="232d37"/>
                </a:solidFill>
                <a:latin typeface="Calibri"/>
              </a:rPr>
              <a:t>Serial Number: ZTEGC826D7E0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Box 6"/>
          <p:cNvSpPr/>
          <p:nvPr/>
        </p:nvSpPr>
        <p:spPr>
          <a:xfrm>
            <a:off x="11032920" y="644652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6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3215520" y="320040"/>
            <a:ext cx="57301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42337"/>
                </a:solidFill>
                <a:latin typeface="Calibri"/>
              </a:rPr>
              <a:t>6. Configuración del servicio en la OLT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ounded Rectangle 3"/>
          <p:cNvSpPr/>
          <p:nvPr/>
        </p:nvSpPr>
        <p:spPr>
          <a:xfrm>
            <a:off x="731520" y="1325880"/>
            <a:ext cx="10698120" cy="448020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28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TextBox 4"/>
          <p:cNvSpPr/>
          <p:nvPr/>
        </p:nvSpPr>
        <p:spPr>
          <a:xfrm>
            <a:off x="3054240" y="1508760"/>
            <a:ext cx="6053040" cy="255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conf t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interface gpon-onu_1/13/4:1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  sn-bind enable sn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  tcont 1 name internet profile plan-600m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  gemport 1 name internet tcont 1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  gemport 1 traffic-limit downstream DOWN-600M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  switchport mode hybrid vport 1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  service-port 1 vport 1 user-vlan 200 vlan 200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exit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5"/>
          <p:cNvSpPr/>
          <p:nvPr/>
        </p:nvSpPr>
        <p:spPr>
          <a:xfrm>
            <a:off x="11032920" y="644652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7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2"/>
          <p:cNvSpPr/>
          <p:nvPr/>
        </p:nvSpPr>
        <p:spPr>
          <a:xfrm>
            <a:off x="2768040" y="320040"/>
            <a:ext cx="6624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42337"/>
                </a:solidFill>
                <a:latin typeface="Calibri"/>
              </a:rPr>
              <a:t>7. Relación entre T-CONT, GEMPORT y VLAN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ounded Rectangle 3"/>
          <p:cNvSpPr/>
          <p:nvPr/>
        </p:nvSpPr>
        <p:spPr>
          <a:xfrm>
            <a:off x="502920" y="2148840"/>
            <a:ext cx="2148480" cy="141696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>
            <a:solidFill>
              <a:srgbClr val="28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TextBox 4"/>
          <p:cNvSpPr/>
          <p:nvPr/>
        </p:nvSpPr>
        <p:spPr>
          <a:xfrm>
            <a:off x="1023480" y="2359080"/>
            <a:ext cx="109836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142337"/>
                </a:solidFill>
                <a:latin typeface="Calibri"/>
              </a:rPr>
              <a:t>T-CONT 1</a:t>
            </a:r>
            <a:endParaRPr b="0" lang="es-A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32d37"/>
                </a:solidFill>
                <a:latin typeface="Calibri"/>
              </a:rPr>
              <a:t>plan-600m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ounded Rectangle 5"/>
          <p:cNvSpPr/>
          <p:nvPr/>
        </p:nvSpPr>
        <p:spPr>
          <a:xfrm>
            <a:off x="3246120" y="2148840"/>
            <a:ext cx="2148480" cy="141696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>
            <a:solidFill>
              <a:srgbClr val="28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TextBox 6"/>
          <p:cNvSpPr/>
          <p:nvPr/>
        </p:nvSpPr>
        <p:spPr>
          <a:xfrm>
            <a:off x="3624840" y="2359080"/>
            <a:ext cx="13820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142337"/>
                </a:solidFill>
                <a:latin typeface="Calibri"/>
              </a:rPr>
              <a:t>GEMPORT 1</a:t>
            </a:r>
            <a:endParaRPr b="0" lang="es-A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32d37"/>
                </a:solidFill>
                <a:latin typeface="Calibri"/>
              </a:rPr>
              <a:t>internet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ounded Rectangle 7"/>
          <p:cNvSpPr/>
          <p:nvPr/>
        </p:nvSpPr>
        <p:spPr>
          <a:xfrm>
            <a:off x="5989320" y="2148840"/>
            <a:ext cx="2148480" cy="141696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>
            <a:solidFill>
              <a:srgbClr val="28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8"/>
          <p:cNvSpPr/>
          <p:nvPr/>
        </p:nvSpPr>
        <p:spPr>
          <a:xfrm>
            <a:off x="6537960" y="2359080"/>
            <a:ext cx="104220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142337"/>
                </a:solidFill>
                <a:latin typeface="Calibri"/>
              </a:rPr>
              <a:t>VPORT 1</a:t>
            </a:r>
            <a:endParaRPr b="0" lang="es-A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32d37"/>
                </a:solidFill>
                <a:latin typeface="Calibri"/>
              </a:rPr>
              <a:t>hybrid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ounded Rectangle 9"/>
          <p:cNvSpPr/>
          <p:nvPr/>
        </p:nvSpPr>
        <p:spPr>
          <a:xfrm>
            <a:off x="8732520" y="2148840"/>
            <a:ext cx="2148480" cy="141696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>
            <a:solidFill>
              <a:srgbClr val="28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10"/>
          <p:cNvSpPr/>
          <p:nvPr/>
        </p:nvSpPr>
        <p:spPr>
          <a:xfrm>
            <a:off x="9227160" y="2359080"/>
            <a:ext cx="115020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900" spc="-1" strike="noStrike">
                <a:solidFill>
                  <a:srgbClr val="142337"/>
                </a:solidFill>
                <a:latin typeface="Calibri"/>
              </a:rPr>
              <a:t>VLAN 200</a:t>
            </a:r>
            <a:endParaRPr b="0" lang="es-A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32d37"/>
                </a:solidFill>
                <a:latin typeface="Calibri"/>
              </a:rPr>
              <a:t>Internet</a:t>
            </a:r>
            <a:endParaRPr b="0" lang="es-A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ight Arrow 11"/>
          <p:cNvSpPr/>
          <p:nvPr/>
        </p:nvSpPr>
        <p:spPr>
          <a:xfrm>
            <a:off x="2697480" y="2578680"/>
            <a:ext cx="411120" cy="456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9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1" name="Right Arrow 12"/>
          <p:cNvSpPr/>
          <p:nvPr/>
        </p:nvSpPr>
        <p:spPr>
          <a:xfrm>
            <a:off x="5440680" y="2578680"/>
            <a:ext cx="411120" cy="456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9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Right Arrow 13"/>
          <p:cNvSpPr/>
          <p:nvPr/>
        </p:nvSpPr>
        <p:spPr>
          <a:xfrm>
            <a:off x="8183880" y="2578680"/>
            <a:ext cx="411120" cy="45684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9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14"/>
          <p:cNvSpPr/>
          <p:nvPr/>
        </p:nvSpPr>
        <p:spPr>
          <a:xfrm>
            <a:off x="979920" y="4251960"/>
            <a:ext cx="1010988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000" spc="-1" strike="noStrike">
                <a:solidFill>
                  <a:srgbClr val="232d37"/>
                </a:solidFill>
                <a:latin typeface="Calibri"/>
              </a:rPr>
              <a:t>La configuración vincula el plan de 600M con el transporte del servicio Internet por la VLAN 200.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15"/>
          <p:cNvSpPr/>
          <p:nvPr/>
        </p:nvSpPr>
        <p:spPr>
          <a:xfrm>
            <a:off x="11032920" y="644652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8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3772440" y="320040"/>
            <a:ext cx="46159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42337"/>
                </a:solidFill>
                <a:latin typeface="Calibri"/>
              </a:rPr>
              <a:t>8. Configuración del lado ONU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ounded Rectangle 3"/>
          <p:cNvSpPr/>
          <p:nvPr/>
        </p:nvSpPr>
        <p:spPr>
          <a:xfrm>
            <a:off x="731520" y="1325880"/>
            <a:ext cx="10698120" cy="448020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28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4"/>
          <p:cNvSpPr/>
          <p:nvPr/>
        </p:nvSpPr>
        <p:spPr>
          <a:xfrm>
            <a:off x="2991600" y="1508760"/>
            <a:ext cx="6177960" cy="173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conf t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pon-onu-mng gpon-onu_1/13/4:1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  service 1 gemport 1 vlan 200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  wan-ip 1 mode dhcp vlan-profile HSI-200 host 1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  vlan port eth_0/1 mode tag vlan 200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Consolas"/>
              </a:rPr>
              <a:t>exit</a:t>
            </a:r>
            <a:endParaRPr b="0" lang="es-A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5"/>
          <p:cNvSpPr/>
          <p:nvPr/>
        </p:nvSpPr>
        <p:spPr>
          <a:xfrm>
            <a:off x="822960" y="4419720"/>
            <a:ext cx="10515240" cy="12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El servicio 1 utiliza el GEMPORT 1 y la VLAN 200.</a:t>
            </a:r>
            <a:endParaRPr b="0" lang="es-AR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La WAN se obtiene mediante DHCP usando el perfil HSI-200.</a:t>
            </a:r>
            <a:endParaRPr b="0" lang="es-AR" sz="18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ffffff"/>
                </a:solidFill>
                <a:latin typeface="Calibri"/>
              </a:rPr>
              <a:t>El puerto Ethernet eth_0/1 se configura etiquetando tráfico con VLAN 200.</a:t>
            </a:r>
            <a:endParaRPr b="0" lang="es-A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11032920" y="6446520"/>
            <a:ext cx="24516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9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3841200" y="320040"/>
            <a:ext cx="4478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42337"/>
                </a:solidFill>
                <a:latin typeface="Calibri"/>
              </a:rPr>
              <a:t>9. Flujo completo del servicio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ounded Rectangle 3"/>
          <p:cNvSpPr/>
          <p:nvPr/>
        </p:nvSpPr>
        <p:spPr>
          <a:xfrm>
            <a:off x="320040" y="2240280"/>
            <a:ext cx="1645560" cy="141696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>
            <a:solidFill>
              <a:srgbClr val="28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TextBox 4"/>
          <p:cNvSpPr/>
          <p:nvPr/>
        </p:nvSpPr>
        <p:spPr>
          <a:xfrm>
            <a:off x="535680" y="2423160"/>
            <a:ext cx="121428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42337"/>
                </a:solidFill>
                <a:latin typeface="Calibri"/>
              </a:rPr>
              <a:t>OLT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32d37"/>
                </a:solidFill>
                <a:latin typeface="Calibri"/>
              </a:rPr>
              <a:t>gpon-olt_1/13/4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Rounded Rectangle 5"/>
          <p:cNvSpPr/>
          <p:nvPr/>
        </p:nvSpPr>
        <p:spPr>
          <a:xfrm>
            <a:off x="2331720" y="2240280"/>
            <a:ext cx="1645560" cy="141696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>
            <a:solidFill>
              <a:srgbClr val="28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TextBox 6"/>
          <p:cNvSpPr/>
          <p:nvPr/>
        </p:nvSpPr>
        <p:spPr>
          <a:xfrm>
            <a:off x="2660760" y="2423160"/>
            <a:ext cx="98712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42337"/>
                </a:solidFill>
                <a:latin typeface="Calibri"/>
              </a:rPr>
              <a:t>ONU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32d37"/>
                </a:solidFill>
                <a:latin typeface="Calibri"/>
              </a:rPr>
              <a:t>generic-F670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ounded Rectangle 7"/>
          <p:cNvSpPr/>
          <p:nvPr/>
        </p:nvSpPr>
        <p:spPr>
          <a:xfrm>
            <a:off x="4343400" y="2240280"/>
            <a:ext cx="1645560" cy="141696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>
            <a:solidFill>
              <a:srgbClr val="28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TextBox 8"/>
          <p:cNvSpPr/>
          <p:nvPr/>
        </p:nvSpPr>
        <p:spPr>
          <a:xfrm>
            <a:off x="4739400" y="2423160"/>
            <a:ext cx="85320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42337"/>
                </a:solidFill>
                <a:latin typeface="Calibri"/>
              </a:rPr>
              <a:t>T-CONT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32d37"/>
                </a:solidFill>
                <a:latin typeface="Calibri"/>
              </a:rPr>
              <a:t>plan-600m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ounded Rectangle 9"/>
          <p:cNvSpPr/>
          <p:nvPr/>
        </p:nvSpPr>
        <p:spPr>
          <a:xfrm>
            <a:off x="6355080" y="2240280"/>
            <a:ext cx="1645560" cy="141696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>
            <a:solidFill>
              <a:srgbClr val="28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TextBox 10"/>
          <p:cNvSpPr/>
          <p:nvPr/>
        </p:nvSpPr>
        <p:spPr>
          <a:xfrm>
            <a:off x="6626880" y="2423160"/>
            <a:ext cx="110160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42337"/>
                </a:solidFill>
                <a:latin typeface="Calibri"/>
              </a:rPr>
              <a:t>GEMPORT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32d37"/>
                </a:solidFill>
                <a:latin typeface="Calibri"/>
              </a:rPr>
              <a:t>1 / Internet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ounded Rectangle 11"/>
          <p:cNvSpPr/>
          <p:nvPr/>
        </p:nvSpPr>
        <p:spPr>
          <a:xfrm>
            <a:off x="8366760" y="2240280"/>
            <a:ext cx="1645560" cy="141696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>
            <a:solidFill>
              <a:srgbClr val="28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TextBox 12"/>
          <p:cNvSpPr/>
          <p:nvPr/>
        </p:nvSpPr>
        <p:spPr>
          <a:xfrm>
            <a:off x="8852040" y="2423160"/>
            <a:ext cx="67500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42337"/>
                </a:solidFill>
                <a:latin typeface="Calibri"/>
              </a:rPr>
              <a:t>VLAN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32d37"/>
                </a:solidFill>
                <a:latin typeface="Calibri"/>
              </a:rPr>
              <a:t>200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ounded Rectangle 13"/>
          <p:cNvSpPr/>
          <p:nvPr/>
        </p:nvSpPr>
        <p:spPr>
          <a:xfrm>
            <a:off x="10104120" y="2240280"/>
            <a:ext cx="1645560" cy="1416960"/>
          </a:xfrm>
          <a:prstGeom prst="roundRect">
            <a:avLst>
              <a:gd name="adj" fmla="val 16667"/>
            </a:avLst>
          </a:prstGeom>
          <a:solidFill>
            <a:srgbClr val="eef4fa"/>
          </a:solidFill>
          <a:ln>
            <a:solidFill>
              <a:srgbClr val="28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TextBox 14"/>
          <p:cNvSpPr/>
          <p:nvPr/>
        </p:nvSpPr>
        <p:spPr>
          <a:xfrm>
            <a:off x="10606320" y="2423160"/>
            <a:ext cx="641160" cy="53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142337"/>
                </a:solidFill>
                <a:latin typeface="Calibri"/>
              </a:rPr>
              <a:t>WAN</a:t>
            </a:r>
            <a:endParaRPr b="0" lang="es-A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232d37"/>
                </a:solidFill>
                <a:latin typeface="Calibri"/>
              </a:rPr>
              <a:t>DHCP</a:t>
            </a:r>
            <a:endParaRPr b="0" lang="es-A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ight Arrow 15"/>
          <p:cNvSpPr/>
          <p:nvPr/>
        </p:nvSpPr>
        <p:spPr>
          <a:xfrm>
            <a:off x="1984320" y="2670120"/>
            <a:ext cx="292320" cy="383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9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Right Arrow 16"/>
          <p:cNvSpPr/>
          <p:nvPr/>
        </p:nvSpPr>
        <p:spPr>
          <a:xfrm>
            <a:off x="3996000" y="2670120"/>
            <a:ext cx="292320" cy="383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9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Right Arrow 17"/>
          <p:cNvSpPr/>
          <p:nvPr/>
        </p:nvSpPr>
        <p:spPr>
          <a:xfrm>
            <a:off x="6007680" y="2670120"/>
            <a:ext cx="292320" cy="383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9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Right Arrow 18"/>
          <p:cNvSpPr/>
          <p:nvPr/>
        </p:nvSpPr>
        <p:spPr>
          <a:xfrm>
            <a:off x="8019360" y="2670120"/>
            <a:ext cx="292320" cy="383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9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Right Arrow 19"/>
          <p:cNvSpPr/>
          <p:nvPr/>
        </p:nvSpPr>
        <p:spPr>
          <a:xfrm>
            <a:off x="9756720" y="2670120"/>
            <a:ext cx="292320" cy="38376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869a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20"/>
          <p:cNvSpPr/>
          <p:nvPr/>
        </p:nvSpPr>
        <p:spPr>
          <a:xfrm>
            <a:off x="687240" y="4297680"/>
            <a:ext cx="1069524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900" spc="-1" strike="noStrike">
                <a:solidFill>
                  <a:srgbClr val="232d37"/>
                </a:solidFill>
                <a:latin typeface="Calibri"/>
              </a:rPr>
              <a:t>Objetivo: que el tráfico de Internet llegue a la ONU a través de la VLAN 200 y la WAN se configure por DHCP.</a:t>
            </a:r>
            <a:endParaRPr b="0" lang="es-A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21"/>
          <p:cNvSpPr/>
          <p:nvPr/>
        </p:nvSpPr>
        <p:spPr>
          <a:xfrm>
            <a:off x="11000880" y="644652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10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2"/>
          <p:cNvSpPr/>
          <p:nvPr/>
        </p:nvSpPr>
        <p:spPr>
          <a:xfrm>
            <a:off x="4862880" y="320040"/>
            <a:ext cx="2435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142337"/>
                </a:solidFill>
                <a:latin typeface="Calibri"/>
              </a:rPr>
              <a:t>10. Verificación</a:t>
            </a:r>
            <a:endParaRPr b="0" lang="es-A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ounded Rectangle 3"/>
          <p:cNvSpPr/>
          <p:nvPr/>
        </p:nvSpPr>
        <p:spPr>
          <a:xfrm>
            <a:off x="1005840" y="1828800"/>
            <a:ext cx="10058040" cy="1371240"/>
          </a:xfrm>
          <a:prstGeom prst="roundRect">
            <a:avLst>
              <a:gd name="adj" fmla="val 16667"/>
            </a:avLst>
          </a:prstGeom>
          <a:solidFill>
            <a:srgbClr val="142337"/>
          </a:solidFill>
          <a:ln>
            <a:solidFill>
              <a:srgbClr val="2869a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4"/>
          <p:cNvSpPr/>
          <p:nvPr/>
        </p:nvSpPr>
        <p:spPr>
          <a:xfrm>
            <a:off x="3384000" y="2011680"/>
            <a:ext cx="530172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100" spc="-1" strike="noStrike">
                <a:solidFill>
                  <a:srgbClr val="ffffff"/>
                </a:solidFill>
                <a:latin typeface="Consolas"/>
              </a:rPr>
              <a:t>show gpon onu state gpon-olt_1/13/4</a:t>
            </a:r>
            <a:endParaRPr b="0" lang="es-AR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5"/>
          <p:cNvSpPr/>
          <p:nvPr/>
        </p:nvSpPr>
        <p:spPr>
          <a:xfrm>
            <a:off x="914400" y="3749040"/>
            <a:ext cx="10515240" cy="11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232d37"/>
                </a:solidFill>
                <a:latin typeface="Calibri"/>
              </a:rPr>
              <a:t>El archivo finaliza la configuración con una consulta del estado de la ONU.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232d37"/>
                </a:solidFill>
                <a:latin typeface="Calibri"/>
              </a:rPr>
              <a:t>La salida del comando permite comprobar el estado operativo de la ONU en el puerto PON configurado.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6"/>
          <p:cNvSpPr/>
          <p:nvPr/>
        </p:nvSpPr>
        <p:spPr>
          <a:xfrm>
            <a:off x="11000880" y="644652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11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2337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TextBox 2"/>
          <p:cNvSpPr/>
          <p:nvPr/>
        </p:nvSpPr>
        <p:spPr>
          <a:xfrm>
            <a:off x="3567600" y="914400"/>
            <a:ext cx="50259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200" spc="-1" strike="noStrike">
                <a:solidFill>
                  <a:srgbClr val="ffffff"/>
                </a:solidFill>
                <a:latin typeface="Calibri"/>
              </a:rPr>
              <a:t>Resumen de la configuración</a:t>
            </a:r>
            <a:endParaRPr b="0" lang="es-A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3"/>
          <p:cNvSpPr/>
          <p:nvPr/>
        </p:nvSpPr>
        <p:spPr>
          <a:xfrm>
            <a:off x="824760" y="1869840"/>
            <a:ext cx="10515240" cy="359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800" spc="-1" strike="noStrike">
                <a:solidFill>
                  <a:srgbClr val="232d37"/>
                </a:solidFill>
                <a:latin typeface="Calibri"/>
              </a:rPr>
              <a:t>1</a:t>
            </a:r>
            <a:r>
              <a:rPr b="0" lang="en-US" sz="2000" spc="-1" strike="noStrike">
                <a:solidFill>
                  <a:srgbClr val="232d37"/>
                </a:solidFill>
                <a:latin typeface="Calibri"/>
              </a:rPr>
              <a:t>.</a:t>
            </a: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 Se limpia la ONU anterior.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2. Se registra la ONU con su Serial Number.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3. Se asigna el T-CONT plan-600m.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4. Se crea GEMPORT 1 para Internet.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5. Se limita el downstream con DOWN-600M.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6. Se utiliza VLAN 200 para el servicio.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7. La ONU recibe la WAN por DHCP.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2000" spc="-1" strike="noStrike">
                <a:solidFill>
                  <a:srgbClr val="ffffff"/>
                </a:solidFill>
                <a:latin typeface="Calibri"/>
              </a:rPr>
              <a:t>8. Se verifica el estado de la ONU.</a:t>
            </a:r>
            <a:endParaRPr b="0" lang="es-A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Box 4"/>
          <p:cNvSpPr/>
          <p:nvPr/>
        </p:nvSpPr>
        <p:spPr>
          <a:xfrm>
            <a:off x="11000880" y="6446520"/>
            <a:ext cx="3092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787878"/>
                </a:solidFill>
                <a:latin typeface="Calibri"/>
              </a:rPr>
              <a:t>12</a:t>
            </a:r>
            <a:endParaRPr b="0" lang="es-A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PPT_Plus/1.0.0.0$Windows_X86_64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es-AR</dc:language>
  <cp:lastModifiedBy/>
  <dcterms:modified xsi:type="dcterms:W3CDTF">2026-09-16T00:16:15Z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